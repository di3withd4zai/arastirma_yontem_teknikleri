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Tomorrow" panose="020B0604020202020204" charset="0"/>
      <p:regular r:id="rId16"/>
    </p:embeddedFont>
    <p:embeddedFont>
      <p:font typeface="Tomorrow Semi Bold" panose="020B0604020202020204" charset="0"/>
      <p:regular r:id="rId17"/>
    </p:embeddedFont>
  </p:embeddedFontLst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2881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1037" b="12791"/>
          <a:stretch/>
        </p:blipFill>
        <p:spPr>
          <a:xfrm>
            <a:off x="114913" y="0"/>
            <a:ext cx="5289294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09562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Goth Estetiği İçeriklerinin TikTok ve Instagram'daki Etkileşim Farkları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7606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MP3 – Veri Toplama Tasarımı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29411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Hazırlayan: Nezaket Demirci (liv3withn3z)</a:t>
            </a:r>
            <a:endParaRPr lang="tr-TR" sz="1750" dirty="0">
              <a:solidFill>
                <a:srgbClr val="C9C9C0"/>
              </a:solidFill>
              <a:latin typeface="Tomorrow" pitchFamily="34" charset="0"/>
              <a:ea typeface="Tomorrow" pitchFamily="34" charset="-122"/>
              <a:cs typeface="Tomorrow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Ders: Araştırma Yöntem ve Teknikleri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340" y="0"/>
            <a:ext cx="4630722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36427"/>
            <a:ext cx="7240429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MP3'ün Amacı ve Kapsamı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280190" y="2148364"/>
            <a:ext cx="3232190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Temel Hedefler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280190" y="2767727"/>
            <a:ext cx="3515320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Bu aşamanın temel amacı, araştırma konumu için en uygun veri toplama yöntemini planlamak ve uygulayabilir hale getirmektir. MP1 ve MP2'deki hipotezimi test edecek somut veriyi oluşturmak için sistematik bir yaklaşım geliştirdim.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280190" y="5720001"/>
            <a:ext cx="3515320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Örnek bir veri seti oluşturarak, topladığım veriyi analiz edilebilir ve yorumlanabilir bir formata dönüştürmeyi hedefledim.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0328910" y="2148364"/>
            <a:ext cx="3232190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Sunum İçeriği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10328910" y="2767727"/>
            <a:ext cx="3515320" cy="2068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Bu sunumda, kendi açtığım sosyal medya hesaplarından elde edilen veriyi nasıl topladığımı, hangi yöntemleri kullandığımı ve verileri nasıl yapılandırdığımı detaylı şekilde aktaracağım.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0328910" y="5030391"/>
            <a:ext cx="3515320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Veri toplama sürecinin her aşaması, bilimsel yöntem ilkeleri doğrultusunda tasarlanmıştır.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2604"/>
            <a:ext cx="624078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Veri Toplama Yöntemi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950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350056"/>
            <a:ext cx="6407944" cy="30480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524363"/>
            <a:ext cx="35628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Yeni Hesaplar Oluşturma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014782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Her iki platformda da </a:t>
            </a:r>
            <a:r>
              <a:rPr lang="en-US" sz="17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liv3withn3z</a:t>
            </a: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kullanıcı adıyla yeni hesaplar açıldı. TikTok ve Instagram hesapları başlangıçta 0 takipçi ile başlatıldı.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19950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350056"/>
            <a:ext cx="6408063" cy="30480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25243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İçerik Paylaşımı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014782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Aynı goth temalı görsel ve video içerikler her iki platformda eşzamanlı </a:t>
            </a:r>
            <a:r>
              <a:rPr lang="en-US" sz="175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olarak</a:t>
            </a: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175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paylaşıl</a:t>
            </a:r>
            <a:r>
              <a:rPr lang="tr-TR" sz="175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acak</a:t>
            </a: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 Bu sayede platformlar arası doğrudan karşılaştırma yapılabilir hale gel</a:t>
            </a:r>
            <a:r>
              <a:rPr lang="tr-TR" sz="175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ecek</a:t>
            </a:r>
            <a:r>
              <a:rPr lang="tr-TR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50032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855369"/>
            <a:ext cx="6407944" cy="30480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029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Sistematik İzleme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520095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Paylaşımlar </a:t>
            </a:r>
            <a:r>
              <a:rPr lang="en-US" sz="17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14 gün boyunca</a:t>
            </a: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düzenli </a:t>
            </a:r>
            <a:r>
              <a:rPr lang="en-US" sz="175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olarak</a:t>
            </a: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175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izle</a:t>
            </a:r>
            <a:r>
              <a:rPr lang="tr-TR" sz="175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necek</a:t>
            </a: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 Beğeni sayıları, etkileşim süreleri ve algoritma </a:t>
            </a:r>
            <a:r>
              <a:rPr lang="en-US" sz="175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davranışları</a:t>
            </a: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175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kaydedil</a:t>
            </a:r>
            <a:r>
              <a:rPr lang="tr-TR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ilecek.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50032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855369"/>
            <a:ext cx="6408063" cy="30480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029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Veri Analizi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520095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Toplanan veriler sayesinde iki platformdaki etkileşim farklarını objektif ve ölçülebilir şekilde </a:t>
            </a:r>
            <a:r>
              <a:rPr lang="en-US" sz="175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analiz</a:t>
            </a: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175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edebil</a:t>
            </a:r>
            <a:r>
              <a:rPr lang="tr-TR" sz="175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eceğim</a:t>
            </a:r>
            <a:r>
              <a:rPr lang="tr-TR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703397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Bu </a:t>
            </a:r>
            <a:r>
              <a:rPr lang="en-US" sz="17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gözlem + deneysel paylaşım</a:t>
            </a: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karma yöntemi, araştırmanın kontrol edilebilirliğini ve güvenilirliğini artırmaktadır.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l="6367"/>
          <a:stretch/>
        </p:blipFill>
        <p:spPr>
          <a:xfrm>
            <a:off x="9370030" y="0"/>
            <a:ext cx="5137079" cy="82255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02469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Veri Kaynakları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793790" y="1489234"/>
            <a:ext cx="3693200" cy="2476857"/>
          </a:xfrm>
          <a:prstGeom prst="roundRect">
            <a:avLst>
              <a:gd name="adj" fmla="val 1030"/>
            </a:avLst>
          </a:prstGeom>
          <a:solidFill>
            <a:srgbClr val="3C3C3A"/>
          </a:solidFill>
          <a:ln/>
        </p:spPr>
      </p:sp>
      <p:sp>
        <p:nvSpPr>
          <p:cNvPr id="5" name="Shape 2"/>
          <p:cNvSpPr/>
          <p:nvPr/>
        </p:nvSpPr>
        <p:spPr>
          <a:xfrm>
            <a:off x="963811" y="1659255"/>
            <a:ext cx="510302" cy="510302"/>
          </a:xfrm>
          <a:prstGeom prst="roundRect">
            <a:avLst>
              <a:gd name="adj" fmla="val 17917009"/>
            </a:avLst>
          </a:prstGeom>
          <a:solidFill>
            <a:srgbClr val="E1E1D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186" y="1799511"/>
            <a:ext cx="229553" cy="229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3811" y="2339578"/>
            <a:ext cx="232231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Deneysel Paylaşımlar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963811" y="2707362"/>
            <a:ext cx="335315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Aynı içerik, aynı zamanda iki farklı </a:t>
            </a:r>
            <a:r>
              <a:rPr lang="en-US" sz="130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platformda</a:t>
            </a: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130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paylaşıl</a:t>
            </a:r>
            <a:r>
              <a:rPr lang="tr-TR" sz="130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acak</a:t>
            </a: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 Bu kontrollü yaklaşım, platformlar arası farklılıkları net şekilde </a:t>
            </a:r>
            <a:r>
              <a:rPr lang="en-US" sz="130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ortaya</a:t>
            </a: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130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koy</a:t>
            </a:r>
            <a:r>
              <a:rPr lang="tr-TR" sz="130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acak</a:t>
            </a: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657011" y="1489234"/>
            <a:ext cx="3693200" cy="2476857"/>
          </a:xfrm>
          <a:prstGeom prst="roundRect">
            <a:avLst>
              <a:gd name="adj" fmla="val 1030"/>
            </a:avLst>
          </a:prstGeom>
          <a:solidFill>
            <a:srgbClr val="3C3C3A"/>
          </a:solidFill>
          <a:ln/>
        </p:spPr>
      </p:sp>
      <p:sp>
        <p:nvSpPr>
          <p:cNvPr id="10" name="Shape 6"/>
          <p:cNvSpPr/>
          <p:nvPr/>
        </p:nvSpPr>
        <p:spPr>
          <a:xfrm>
            <a:off x="4827032" y="1659255"/>
            <a:ext cx="510302" cy="510302"/>
          </a:xfrm>
          <a:prstGeom prst="roundRect">
            <a:avLst>
              <a:gd name="adj" fmla="val 17917009"/>
            </a:avLst>
          </a:prstGeom>
          <a:solidFill>
            <a:srgbClr val="E1E1DF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7407" y="1799511"/>
            <a:ext cx="229553" cy="2295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27032" y="2339578"/>
            <a:ext cx="227730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Platform İstatistikleri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4827032" y="2707362"/>
            <a:ext cx="335315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Her gönderinin beğeni sayıları, görüntülenme metrikleri ve etkileşim oranları platformların kendi analitik araçları </a:t>
            </a:r>
            <a:r>
              <a:rPr lang="en-US" sz="130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üzerinden</a:t>
            </a: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130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toplan</a:t>
            </a:r>
            <a:r>
              <a:rPr lang="tr-TR" sz="130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acak</a:t>
            </a: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793790" y="4136112"/>
            <a:ext cx="7556421" cy="1932503"/>
          </a:xfrm>
          <a:prstGeom prst="roundRect">
            <a:avLst>
              <a:gd name="adj" fmla="val 1320"/>
            </a:avLst>
          </a:prstGeom>
          <a:solidFill>
            <a:srgbClr val="3C3C3A"/>
          </a:solidFill>
          <a:ln/>
        </p:spPr>
      </p:sp>
      <p:sp>
        <p:nvSpPr>
          <p:cNvPr id="15" name="Shape 10"/>
          <p:cNvSpPr/>
          <p:nvPr/>
        </p:nvSpPr>
        <p:spPr>
          <a:xfrm>
            <a:off x="963811" y="4306133"/>
            <a:ext cx="510302" cy="510302"/>
          </a:xfrm>
          <a:prstGeom prst="roundRect">
            <a:avLst>
              <a:gd name="adj" fmla="val 17917009"/>
            </a:avLst>
          </a:prstGeom>
          <a:solidFill>
            <a:srgbClr val="E1E1D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4186" y="4446389"/>
            <a:ext cx="229553" cy="2295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3811" y="498645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Kişisel Gözlemler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963811" y="5354241"/>
            <a:ext cx="7216378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Paylaşımların ne kadar sürede ne kadar etkileşim aldığı, hangi saatlerde daha aktif olduğu gibi nitel veriler düzenli </a:t>
            </a:r>
            <a:r>
              <a:rPr lang="en-US" sz="130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olarak</a:t>
            </a: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130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kaydedil</a:t>
            </a:r>
            <a:r>
              <a:rPr lang="tr-TR" sz="130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ecek</a:t>
            </a: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793790" y="6259949"/>
            <a:ext cx="7556421" cy="1267063"/>
          </a:xfrm>
          <a:prstGeom prst="roundRect">
            <a:avLst>
              <a:gd name="adj" fmla="val 2014"/>
            </a:avLst>
          </a:prstGeom>
          <a:solidFill>
            <a:srgbClr val="272725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3811" y="6521768"/>
            <a:ext cx="212646" cy="17002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46478" y="6472476"/>
            <a:ext cx="6833711" cy="81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Not:</a:t>
            </a:r>
            <a:r>
              <a:rPr lang="en-US" sz="130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MP3 kapsamında gerekli olursa veri üretimini desteklemek için küçük miktarda sentetik veri de eklenebilir. Bu, eksik veri noktalarını tamamlamak ve analizin tutarlılığını sağlamak için kullanılacaktır.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3347"/>
            <a:ext cx="5998131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Toplanan Verinin Yapısı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2211467"/>
            <a:ext cx="3062168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Veri Dosyası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3790" y="2798326"/>
            <a:ext cx="4918353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Araştırmada kullanılan temel veri dosyası: </a:t>
            </a:r>
            <a:r>
              <a:rPr lang="en-US" sz="1600" dirty="0">
                <a:solidFill>
                  <a:srgbClr val="C9C9C0"/>
                </a:solidFill>
                <a:highlight>
                  <a:srgbClr val="2A2A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data_mp3.csv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3790" y="366343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Veri Sütunları: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3790" y="4186357"/>
            <a:ext cx="491835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post_id:</a:t>
            </a: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Gönderi kimlik numarası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3790" y="4584502"/>
            <a:ext cx="491835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platform:</a:t>
            </a: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TikTok / Instagram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3790" y="4982647"/>
            <a:ext cx="491835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begeni_sayisi:</a:t>
            </a: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Toplam beğeni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3790" y="5380792"/>
            <a:ext cx="491835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icerik_tipi:</a:t>
            </a: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Fotoğraf / Video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3790" y="5778937"/>
            <a:ext cx="491835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paylasim_saati:</a:t>
            </a: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Paylaşım zamanı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3790" y="6177082"/>
            <a:ext cx="4918353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hesap_adi:</a:t>
            </a: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liv3withn3z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682" y="2211467"/>
            <a:ext cx="3062168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Örnek Veri Satırları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217682" y="2823805"/>
            <a:ext cx="7626429" cy="3275648"/>
          </a:xfrm>
          <a:prstGeom prst="roundRect">
            <a:avLst>
              <a:gd name="adj" fmla="val 93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25302" y="2831425"/>
            <a:ext cx="7611189" cy="91344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29494" y="2961442"/>
            <a:ext cx="111025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post_id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55518" y="2961442"/>
            <a:ext cx="110644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platform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77732" y="2961442"/>
            <a:ext cx="1106448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beğeni_sayısı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99946" y="2961442"/>
            <a:ext cx="110644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içerik_tipi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522160" y="2961442"/>
            <a:ext cx="1110258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paylaşım_saati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25302" y="3744873"/>
            <a:ext cx="7611189" cy="5867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29494" y="3874889"/>
            <a:ext cx="111025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955518" y="3874889"/>
            <a:ext cx="110644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TikTok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77732" y="3874889"/>
            <a:ext cx="110644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48,000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99946" y="3874889"/>
            <a:ext cx="110644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video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522160" y="3874889"/>
            <a:ext cx="111025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20:30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25302" y="4331613"/>
            <a:ext cx="7611189" cy="5867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29494" y="4461629"/>
            <a:ext cx="111025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955518" y="4461629"/>
            <a:ext cx="110644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Instagram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77732" y="4461629"/>
            <a:ext cx="110644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8,300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999946" y="4461629"/>
            <a:ext cx="110644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fotoğraf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522160" y="4461629"/>
            <a:ext cx="111025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20:30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25302" y="4918353"/>
            <a:ext cx="7611189" cy="5867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29494" y="5048369"/>
            <a:ext cx="111025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955518" y="5048369"/>
            <a:ext cx="110644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TikTok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477732" y="5048369"/>
            <a:ext cx="110644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52,100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999946" y="5048369"/>
            <a:ext cx="110644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video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522160" y="5048369"/>
            <a:ext cx="111025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19:45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25302" y="5505093"/>
            <a:ext cx="7611189" cy="5867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429494" y="5635109"/>
            <a:ext cx="111025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955518" y="5635109"/>
            <a:ext cx="110644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Instagram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477732" y="5635109"/>
            <a:ext cx="110644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9,750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99946" y="5635109"/>
            <a:ext cx="110644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video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2522160" y="5635109"/>
            <a:ext cx="111025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19:45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217682" y="6329005"/>
            <a:ext cx="7626429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Bu yapılandırılmış veri formatı, istatistiksel analiz ve görselleştirme için idealdir.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4970"/>
            <a:ext cx="4600694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Veri Toplama Akış Süreci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41189" y="1691640"/>
            <a:ext cx="147399" cy="663297"/>
          </a:xfrm>
          <a:prstGeom prst="roundRect">
            <a:avLst>
              <a:gd name="adj" fmla="val 15004"/>
            </a:avLst>
          </a:prstGeom>
          <a:solidFill>
            <a:srgbClr val="3C3C3A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1594842"/>
            <a:ext cx="442198" cy="442198"/>
          </a:xfrm>
          <a:prstGeom prst="roundRect">
            <a:avLst>
              <a:gd name="adj" fmla="val 103393"/>
            </a:avLst>
          </a:prstGeom>
          <a:solidFill>
            <a:srgbClr val="3C3C3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4280" y="1705451"/>
            <a:ext cx="221099" cy="2210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83387" y="1617940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Hesap Açılışı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83387" y="1936671"/>
            <a:ext cx="1245322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Her iki platformda </a:t>
            </a:r>
            <a:r>
              <a:rPr lang="en-US" sz="11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liv3withn3z</a:t>
            </a:r>
            <a:r>
              <a:rPr lang="en-US" sz="11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kullanıcı adıyla yeni hesaplar oluşturuldu. Profil biyografisi: "Goth vibes. Digital life."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162288" y="2723555"/>
            <a:ext cx="147399" cy="663297"/>
          </a:xfrm>
          <a:prstGeom prst="roundRect">
            <a:avLst>
              <a:gd name="adj" fmla="val 15004"/>
            </a:avLst>
          </a:prstGeom>
          <a:solidFill>
            <a:srgbClr val="3C3C3A"/>
          </a:solidFill>
          <a:ln/>
        </p:spPr>
      </p:sp>
      <p:sp>
        <p:nvSpPr>
          <p:cNvPr id="9" name="Shape 6"/>
          <p:cNvSpPr/>
          <p:nvPr/>
        </p:nvSpPr>
        <p:spPr>
          <a:xfrm>
            <a:off x="1014889" y="2626757"/>
            <a:ext cx="442198" cy="442198"/>
          </a:xfrm>
          <a:prstGeom prst="roundRect">
            <a:avLst>
              <a:gd name="adj" fmla="val 103393"/>
            </a:avLst>
          </a:prstGeom>
          <a:solidFill>
            <a:srgbClr val="3C3C3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5379" y="2737366"/>
            <a:ext cx="221099" cy="22109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4486" y="264985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İçerik Hazırlığı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604486" y="2968585"/>
            <a:ext cx="1223212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Aynı goth temalı görseller ve videolar her iki platform için optimize edildi ve hazır hale </a:t>
            </a:r>
            <a:r>
              <a:rPr lang="en-US" sz="115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getiril</a:t>
            </a:r>
            <a:r>
              <a:rPr lang="tr-TR" sz="115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ecek</a:t>
            </a:r>
            <a:r>
              <a:rPr lang="en-US" sz="11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1383387" y="3755469"/>
            <a:ext cx="147399" cy="663297"/>
          </a:xfrm>
          <a:prstGeom prst="roundRect">
            <a:avLst>
              <a:gd name="adj" fmla="val 15004"/>
            </a:avLst>
          </a:prstGeom>
          <a:solidFill>
            <a:srgbClr val="3C3C3A"/>
          </a:solidFill>
          <a:ln/>
        </p:spPr>
      </p:sp>
      <p:sp>
        <p:nvSpPr>
          <p:cNvPr id="14" name="Shape 10"/>
          <p:cNvSpPr/>
          <p:nvPr/>
        </p:nvSpPr>
        <p:spPr>
          <a:xfrm>
            <a:off x="1235988" y="3658672"/>
            <a:ext cx="442198" cy="442198"/>
          </a:xfrm>
          <a:prstGeom prst="roundRect">
            <a:avLst>
              <a:gd name="adj" fmla="val 103393"/>
            </a:avLst>
          </a:prstGeom>
          <a:solidFill>
            <a:srgbClr val="3C3C3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46478" y="3769281"/>
            <a:ext cx="221099" cy="22109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25585" y="3681770"/>
            <a:ext cx="1881902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Eşzamanlı Paylaşım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825585" y="4000500"/>
            <a:ext cx="120110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Aynı gün ve saatlerde her iki platformda </a:t>
            </a:r>
            <a:r>
              <a:rPr lang="en-US" sz="115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içerikler</a:t>
            </a:r>
            <a:r>
              <a:rPr lang="en-US" sz="11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115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paylaşıl</a:t>
            </a:r>
            <a:r>
              <a:rPr lang="tr-TR" sz="115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acak</a:t>
            </a:r>
            <a:r>
              <a:rPr lang="en-US" sz="11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 Bu zamanlama kontrolü, algoritma etkilerini karşılaştırmak için kritiktir.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1604605" y="4787384"/>
            <a:ext cx="147399" cy="663297"/>
          </a:xfrm>
          <a:prstGeom prst="roundRect">
            <a:avLst>
              <a:gd name="adj" fmla="val 15004"/>
            </a:avLst>
          </a:prstGeom>
          <a:solidFill>
            <a:srgbClr val="3C3C3A"/>
          </a:solidFill>
          <a:ln/>
        </p:spPr>
      </p:sp>
      <p:sp>
        <p:nvSpPr>
          <p:cNvPr id="19" name="Shape 14"/>
          <p:cNvSpPr/>
          <p:nvPr/>
        </p:nvSpPr>
        <p:spPr>
          <a:xfrm>
            <a:off x="1457206" y="4690586"/>
            <a:ext cx="442198" cy="442198"/>
          </a:xfrm>
          <a:prstGeom prst="roundRect">
            <a:avLst>
              <a:gd name="adj" fmla="val 103393"/>
            </a:avLst>
          </a:prstGeom>
          <a:solidFill>
            <a:srgbClr val="3C3C3A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67696" y="4801195"/>
            <a:ext cx="221099" cy="22109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046803" y="471368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14 Günlük Takip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2046803" y="5032415"/>
            <a:ext cx="1178980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Paylaşımlar iki hafta boyunca düzenli olarak izlendi ve tüm </a:t>
            </a:r>
            <a:r>
              <a:rPr lang="en-US" sz="115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metrikler</a:t>
            </a:r>
            <a:r>
              <a:rPr lang="en-US" sz="11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115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kaydedil</a:t>
            </a:r>
            <a:r>
              <a:rPr lang="tr-TR" sz="115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ecek</a:t>
            </a:r>
            <a:r>
              <a:rPr lang="en-US" sz="11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1383387" y="5819299"/>
            <a:ext cx="147399" cy="663297"/>
          </a:xfrm>
          <a:prstGeom prst="roundRect">
            <a:avLst>
              <a:gd name="adj" fmla="val 15004"/>
            </a:avLst>
          </a:prstGeom>
          <a:solidFill>
            <a:srgbClr val="3C3C3A"/>
          </a:solidFill>
          <a:ln/>
        </p:spPr>
      </p:sp>
      <p:sp>
        <p:nvSpPr>
          <p:cNvPr id="24" name="Shape 18"/>
          <p:cNvSpPr/>
          <p:nvPr/>
        </p:nvSpPr>
        <p:spPr>
          <a:xfrm>
            <a:off x="1235988" y="5722501"/>
            <a:ext cx="442198" cy="442198"/>
          </a:xfrm>
          <a:prstGeom prst="roundRect">
            <a:avLst>
              <a:gd name="adj" fmla="val 103393"/>
            </a:avLst>
          </a:prstGeom>
          <a:solidFill>
            <a:srgbClr val="3C3C3A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46478" y="5833110"/>
            <a:ext cx="221099" cy="22109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825585" y="574559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Veri Yapılandırma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1825585" y="6064329"/>
            <a:ext cx="120110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Toplanan tüm veriler CSV </a:t>
            </a:r>
            <a:r>
              <a:rPr lang="en-US" sz="115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formatına</a:t>
            </a:r>
            <a:r>
              <a:rPr lang="en-US" sz="11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115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aktarıl</a:t>
            </a:r>
            <a:r>
              <a:rPr lang="tr-TR" sz="115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acak</a:t>
            </a:r>
            <a:r>
              <a:rPr lang="en-US" sz="11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ve analiz için hazır hale </a:t>
            </a:r>
            <a:r>
              <a:rPr lang="en-US" sz="115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getiril</a:t>
            </a:r>
            <a:r>
              <a:rPr lang="tr-TR" sz="115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ecek</a:t>
            </a:r>
            <a:r>
              <a:rPr lang="en-US" sz="11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1162288" y="6851213"/>
            <a:ext cx="147399" cy="663297"/>
          </a:xfrm>
          <a:prstGeom prst="roundRect">
            <a:avLst>
              <a:gd name="adj" fmla="val 15004"/>
            </a:avLst>
          </a:prstGeom>
          <a:solidFill>
            <a:srgbClr val="3C3C3A"/>
          </a:solidFill>
          <a:ln/>
        </p:spPr>
      </p:sp>
      <p:sp>
        <p:nvSpPr>
          <p:cNvPr id="29" name="Shape 22"/>
          <p:cNvSpPr/>
          <p:nvPr/>
        </p:nvSpPr>
        <p:spPr>
          <a:xfrm>
            <a:off x="1014889" y="6754416"/>
            <a:ext cx="442198" cy="442198"/>
          </a:xfrm>
          <a:prstGeom prst="roundRect">
            <a:avLst>
              <a:gd name="adj" fmla="val 103393"/>
            </a:avLst>
          </a:prstGeom>
          <a:solidFill>
            <a:srgbClr val="3C3C3A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25379" y="6865025"/>
            <a:ext cx="221099" cy="22109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604486" y="677751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Jupyter Notebook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1604486" y="7096244"/>
            <a:ext cx="1223212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Veriler Jupyter Notebook ortamına yüklenerek analiz ve görselleştirme aşamasına geçildi.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10436" y="0"/>
            <a:ext cx="5486400" cy="82255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9620" y="604718"/>
            <a:ext cx="3573423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Notebook İçerikleri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69620" y="1265634"/>
            <a:ext cx="7604760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C9C9C0"/>
                </a:solidFill>
                <a:highlight>
                  <a:srgbClr val="2A2A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mp3_data.ipynb</a:t>
            </a: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dosyasında şu analiz ve işlemler yer almaktadır: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69620" y="1655088"/>
            <a:ext cx="7604760" cy="1990249"/>
          </a:xfrm>
          <a:prstGeom prst="roundRect">
            <a:avLst>
              <a:gd name="adj" fmla="val 1077"/>
            </a:avLst>
          </a:prstGeom>
          <a:solidFill>
            <a:srgbClr val="1D1D1B"/>
          </a:solidFill>
          <a:ln w="15240">
            <a:solidFill>
              <a:srgbClr val="55555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27735" y="1813203"/>
            <a:ext cx="1786652" cy="223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Veri Yükleme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27735" y="2197298"/>
            <a:ext cx="7288530" cy="900470"/>
          </a:xfrm>
          <a:prstGeom prst="roundRect">
            <a:avLst>
              <a:gd name="adj" fmla="val 2381"/>
            </a:avLst>
          </a:prstGeom>
          <a:solidFill>
            <a:srgbClr val="2A2A28"/>
          </a:solidFill>
          <a:ln/>
        </p:spPr>
      </p:sp>
      <p:sp>
        <p:nvSpPr>
          <p:cNvPr id="8" name="Shape 5"/>
          <p:cNvSpPr/>
          <p:nvPr/>
        </p:nvSpPr>
        <p:spPr>
          <a:xfrm>
            <a:off x="920591" y="2197298"/>
            <a:ext cx="7302818" cy="900470"/>
          </a:xfrm>
          <a:prstGeom prst="roundRect">
            <a:avLst>
              <a:gd name="adj" fmla="val 2381"/>
            </a:avLst>
          </a:prstGeom>
          <a:solidFill>
            <a:srgbClr val="2A2A28"/>
          </a:solidFill>
          <a:ln/>
        </p:spPr>
      </p:sp>
      <p:sp>
        <p:nvSpPr>
          <p:cNvPr id="9" name="Text 6"/>
          <p:cNvSpPr/>
          <p:nvPr/>
        </p:nvSpPr>
        <p:spPr>
          <a:xfrm>
            <a:off x="1063466" y="2304455"/>
            <a:ext cx="7017068" cy="686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C9C9C0"/>
                </a:solidFill>
                <a:highlight>
                  <a:srgbClr val="2A2A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pddf = pd.read_csv("data_mp3.csv")df.head()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27735" y="3258502"/>
            <a:ext cx="7288530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Veri kümesini okuma ve ilk kontrollerin yapılması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69620" y="3788212"/>
            <a:ext cx="7604760" cy="854035"/>
          </a:xfrm>
          <a:prstGeom prst="roundRect">
            <a:avLst>
              <a:gd name="adj" fmla="val 2511"/>
            </a:avLst>
          </a:prstGeom>
          <a:solidFill>
            <a:srgbClr val="1D1D1B"/>
          </a:solidFill>
          <a:ln w="15240">
            <a:solidFill>
              <a:srgbClr val="55555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27735" y="3946327"/>
            <a:ext cx="1786652" cy="223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Platform Analizi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27735" y="4255413"/>
            <a:ext cx="7288530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Platformlara göre ortalama beğeni sayılarının hesaplanması ve karşılaştırılması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69620" y="4785122"/>
            <a:ext cx="7604760" cy="854035"/>
          </a:xfrm>
          <a:prstGeom prst="roundRect">
            <a:avLst>
              <a:gd name="adj" fmla="val 2511"/>
            </a:avLst>
          </a:prstGeom>
          <a:solidFill>
            <a:srgbClr val="1D1D1B"/>
          </a:solidFill>
          <a:ln w="15240">
            <a:solidFill>
              <a:srgbClr val="55555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7735" y="4943237"/>
            <a:ext cx="1786652" cy="223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Görselleştirme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27735" y="5252323"/>
            <a:ext cx="7288530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TikTok vs Instagram karşılaştırma grafikleri, zaman serisi analizleri ve etkileşim dağılımları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69620" y="5782032"/>
            <a:ext cx="7604760" cy="854035"/>
          </a:xfrm>
          <a:prstGeom prst="roundRect">
            <a:avLst>
              <a:gd name="adj" fmla="val 2511"/>
            </a:avLst>
          </a:prstGeom>
          <a:solidFill>
            <a:srgbClr val="1D1D1B"/>
          </a:solidFill>
          <a:ln w="15240">
            <a:solidFill>
              <a:srgbClr val="55555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27735" y="5940147"/>
            <a:ext cx="1786652" cy="223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Veri Temizleme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27735" y="6249233"/>
            <a:ext cx="7288530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Eksik değerlerin kontrolü, aykırı değerlerin tespiti ve veri tutarlılığının sağlanması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69620" y="6796802"/>
            <a:ext cx="7604760" cy="836057"/>
          </a:xfrm>
          <a:prstGeom prst="roundRect">
            <a:avLst>
              <a:gd name="adj" fmla="val 2565"/>
            </a:avLst>
          </a:prstGeom>
          <a:solidFill>
            <a:srgbClr val="272725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" y="7018020"/>
            <a:ext cx="178594" cy="14287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233964" y="6975396"/>
            <a:ext cx="6997541" cy="457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Önemli:</a:t>
            </a:r>
            <a:r>
              <a:rPr lang="en-US" sz="110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Bu notebook, MP3 tesliminin zorunlu bir parçasıdır ve tüm analiz adımlarını şeffaf şekilde göstermektedir.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0922"/>
            <a:ext cx="7469029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Neden Kendi Hesabımı Kullandım?</a:t>
            </a:r>
            <a:endParaRPr lang="en-US" sz="330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52241" y="1324920"/>
            <a:ext cx="3226625" cy="573024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30346" y="1689021"/>
            <a:ext cx="382667" cy="382667"/>
          </a:xfrm>
          <a:prstGeom prst="roundRect">
            <a:avLst>
              <a:gd name="adj" fmla="val 6669"/>
            </a:avLst>
          </a:prstGeom>
          <a:solidFill>
            <a:srgbClr val="3C3C3A"/>
          </a:solidFill>
          <a:ln/>
        </p:spPr>
      </p:sp>
      <p:sp>
        <p:nvSpPr>
          <p:cNvPr id="5" name="Text 2"/>
          <p:cNvSpPr/>
          <p:nvPr/>
        </p:nvSpPr>
        <p:spPr>
          <a:xfrm>
            <a:off x="7594104" y="1720870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083034" y="1747480"/>
            <a:ext cx="214657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Algoritma Davranışı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083034" y="2183249"/>
            <a:ext cx="5761196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Algoritmaların gerçek kullanıcı davranışı üzerinde nasıl çalıştığını doğrudan gözlemlemek için yeni bir hesap gerekliydi.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530346" y="3067764"/>
            <a:ext cx="382667" cy="382667"/>
          </a:xfrm>
          <a:prstGeom prst="roundRect">
            <a:avLst>
              <a:gd name="adj" fmla="val 6669"/>
            </a:avLst>
          </a:prstGeom>
          <a:solidFill>
            <a:srgbClr val="3C3C3A"/>
          </a:solidFill>
          <a:ln/>
        </p:spPr>
      </p:sp>
      <p:sp>
        <p:nvSpPr>
          <p:cNvPr id="9" name="Text 6"/>
          <p:cNvSpPr/>
          <p:nvPr/>
        </p:nvSpPr>
        <p:spPr>
          <a:xfrm>
            <a:off x="7594104" y="3099614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083034" y="3126224"/>
            <a:ext cx="335649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Takipçi Etkisini Nötralize Etmek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083034" y="3561993"/>
            <a:ext cx="5761196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Takipçi sayısının etkileşim üzerindeki etkisini minimize etmek için </a:t>
            </a:r>
            <a:r>
              <a:rPr lang="en-US" sz="13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0 takipçi</a:t>
            </a: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ile başlayan hesaplar oluşturdum.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30346" y="4446508"/>
            <a:ext cx="382667" cy="382667"/>
          </a:xfrm>
          <a:prstGeom prst="roundRect">
            <a:avLst>
              <a:gd name="adj" fmla="val 6669"/>
            </a:avLst>
          </a:prstGeom>
          <a:solidFill>
            <a:srgbClr val="3C3C3A"/>
          </a:solidFill>
          <a:ln/>
        </p:spPr>
      </p:sp>
      <p:sp>
        <p:nvSpPr>
          <p:cNvPr id="13" name="Text 10"/>
          <p:cNvSpPr/>
          <p:nvPr/>
        </p:nvSpPr>
        <p:spPr>
          <a:xfrm>
            <a:off x="7594104" y="4478357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083034" y="450496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Eşit Koşullar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8083034" y="4940737"/>
            <a:ext cx="5761196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Tamamen tarafsız bir ortamda, iki platformu eşit koşullarda karşılaştırmak araştırmanın güvenilirliğini artırdı.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530346" y="5825252"/>
            <a:ext cx="382667" cy="382667"/>
          </a:xfrm>
          <a:prstGeom prst="roundRect">
            <a:avLst>
              <a:gd name="adj" fmla="val 6669"/>
            </a:avLst>
          </a:prstGeom>
          <a:solidFill>
            <a:srgbClr val="3C3C3A"/>
          </a:solidFill>
          <a:ln/>
        </p:spPr>
      </p:sp>
      <p:sp>
        <p:nvSpPr>
          <p:cNvPr id="17" name="Text 14"/>
          <p:cNvSpPr/>
          <p:nvPr/>
        </p:nvSpPr>
        <p:spPr>
          <a:xfrm>
            <a:off x="7594104" y="5857101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083034" y="588371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Veri Sahipliği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8083034" y="6319480"/>
            <a:ext cx="5761196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liv3withn3z</a:t>
            </a: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hesabı, veri sürecinin tamamen bana ait olması için özel olarak oluşturuldu.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93790" y="7246501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Bu yöntem </a:t>
            </a:r>
            <a:r>
              <a:rPr lang="en-US" sz="1300" dirty="0">
                <a:solidFill>
                  <a:srgbClr val="000000"/>
                </a:solidFill>
                <a:highlight>
                  <a:srgbClr val="E1E1DF"/>
                </a:highlight>
                <a:latin typeface="Tomorrow" pitchFamily="34" charset="0"/>
                <a:ea typeface="Tomorrow" pitchFamily="34" charset="-122"/>
                <a:cs typeface="Tomorrow" pitchFamily="34" charset="-120"/>
              </a:rPr>
              <a:t>kontrol edilebilirliği artırır</a:t>
            </a: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ve araştırmanın metodolojik sağlamlığını yükseltir.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3055"/>
            <a:ext cx="6524863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Beklenen Çıktılar ve Sonuç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1621036"/>
            <a:ext cx="578406" cy="5784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440424"/>
            <a:ext cx="279701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Algoritma Performansı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793790" y="2857262"/>
            <a:ext cx="4186952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TikTok'un kısa video algoritmasının goth estetiğini daha görünür kılıp kılmadığının net şekilde ortaya konması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1724" y="1621036"/>
            <a:ext cx="578406" cy="57840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21724" y="244042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Instagram Estetiği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221724" y="2857262"/>
            <a:ext cx="4186952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Instagram'daki fotoğraf ağırlıklı estetik içerik performansının detaylı analizi ve platform dinamikleri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49658" y="1621036"/>
            <a:ext cx="578406" cy="57840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49658" y="2440424"/>
            <a:ext cx="296513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Platform Karşılaştırması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649658" y="2857262"/>
            <a:ext cx="4186952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Platform başına ortalama beğeni farkının istatistiksel olarak anlamlı olup olmadığının belirlenmesi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793790" y="4095492"/>
            <a:ext cx="13042821" cy="31671"/>
          </a:xfrm>
          <a:prstGeom prst="rect">
            <a:avLst/>
          </a:prstGeom>
          <a:solidFill>
            <a:srgbClr val="C9C9C0">
              <a:alpha val="50000"/>
            </a:srgbClr>
          </a:solidFill>
          <a:ln/>
        </p:spPr>
      </p:sp>
      <p:sp>
        <p:nvSpPr>
          <p:cNvPr id="13" name="Text 8"/>
          <p:cNvSpPr/>
          <p:nvPr/>
        </p:nvSpPr>
        <p:spPr>
          <a:xfrm>
            <a:off x="793790" y="4416266"/>
            <a:ext cx="3855958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Sonuç</a:t>
            </a:r>
            <a:endParaRPr lang="en-US" sz="3000" dirty="0"/>
          </a:p>
        </p:txBody>
      </p:sp>
      <p:sp>
        <p:nvSpPr>
          <p:cNvPr id="14" name="Text 9"/>
          <p:cNvSpPr/>
          <p:nvPr/>
        </p:nvSpPr>
        <p:spPr>
          <a:xfrm>
            <a:off x="793790" y="5187434"/>
            <a:ext cx="13042821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MP3 aşaması ile araştırmamın temel veri tabanı </a:t>
            </a:r>
            <a:r>
              <a:rPr lang="en-US" sz="150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başarıyla</a:t>
            </a: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150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oluşturul</a:t>
            </a:r>
            <a:r>
              <a:rPr lang="tr-TR" sz="150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acak</a:t>
            </a: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 </a:t>
            </a:r>
            <a:r>
              <a:rPr lang="en-US" sz="15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liv3withn3z</a:t>
            </a: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hesapları sayesinde tarafsız ve karşılaştırılabilir bir veri seti elde edil</a:t>
            </a:r>
            <a:r>
              <a:rPr lang="tr-TR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mesi bekleniyor.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93790" y="6020991"/>
            <a:ext cx="13042821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14 günlük takip sonucunda platformlar arası beğeni farkı açıkça ölçülebilir hale gel</a:t>
            </a:r>
            <a:r>
              <a:rPr lang="tr-TR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ecektir</a:t>
            </a: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 Bu aşama, MP4'de hipotezin bilimsel testine sağlam bir zemin hazırlamaktadır.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082993" y="7071360"/>
            <a:ext cx="1275361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"Goth estetiğinin dijital dünyadaki yankısını veriyle görmek için en somut adım MP3'tür."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793790" y="6854547"/>
            <a:ext cx="22860" cy="741998"/>
          </a:xfrm>
          <a:prstGeom prst="rect">
            <a:avLst/>
          </a:prstGeom>
          <a:solidFill>
            <a:srgbClr val="E1E1D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864</Words>
  <Application>Microsoft Office PowerPoint</Application>
  <PresentationFormat>Özel</PresentationFormat>
  <Paragraphs>129</Paragraphs>
  <Slides>9</Slides>
  <Notes>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5" baseType="lpstr">
      <vt:lpstr>Tomorrow Semi Bold</vt:lpstr>
      <vt:lpstr>Tomorrow</vt:lpstr>
      <vt:lpstr>Arial</vt:lpstr>
      <vt:lpstr>Consolas</vt:lpstr>
      <vt:lpstr>Tomorrow Light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Nezaket Demirci</cp:lastModifiedBy>
  <cp:revision>3</cp:revision>
  <dcterms:created xsi:type="dcterms:W3CDTF">2025-11-17T17:46:23Z</dcterms:created>
  <dcterms:modified xsi:type="dcterms:W3CDTF">2025-11-19T18:31:32Z</dcterms:modified>
</cp:coreProperties>
</file>