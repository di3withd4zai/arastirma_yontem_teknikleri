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Tomorrow" panose="020B0604020202020204" charset="0"/>
      <p:regular r:id="rId12"/>
    </p:embeddedFont>
    <p:embeddedFont>
      <p:font typeface="Tomorrow Semi Bold" panose="020B0604020202020204" charset="0"/>
      <p:regular r:id="rId13"/>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918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www.pinterest.com/pin/fashion-inspo-outfits--2674019152897409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hyperlink" Target="https://www.pinterest.co.uk/pin/80276670235427544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hyperlink" Target="https://www.pinterest.cl/pin/1131177631390031633/"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jpg"/><Relationship Id="rId7" Type="http://schemas.openxmlformats.org/officeDocument/2006/relationships/image" Target="../media/image11.sv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82193" y="0"/>
            <a:ext cx="4630722" cy="8229600"/>
          </a:xfrm>
          <a:prstGeom prst="rect">
            <a:avLst/>
          </a:prstGeom>
        </p:spPr>
      </p:pic>
      <p:sp>
        <p:nvSpPr>
          <p:cNvPr id="3" name="Text 0"/>
          <p:cNvSpPr/>
          <p:nvPr/>
        </p:nvSpPr>
        <p:spPr>
          <a:xfrm>
            <a:off x="6280190" y="2908816"/>
            <a:ext cx="7556421" cy="1860233"/>
          </a:xfrm>
          <a:prstGeom prst="rect">
            <a:avLst/>
          </a:prstGeom>
          <a:noFill/>
          <a:ln/>
        </p:spPr>
        <p:txBody>
          <a:bodyPr wrap="square" lIns="0" tIns="0" rIns="0" bIns="0" rtlCol="0" anchor="t"/>
          <a:lstStyle/>
          <a:p>
            <a:pPr marL="0" indent="0" algn="l">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Goth Estetiği İçeriklerinin Sosyal Medya Platformlarına Göre Etkileşim Analizi</a:t>
            </a:r>
            <a:endParaRPr lang="en-US" sz="3900" dirty="0"/>
          </a:p>
        </p:txBody>
      </p:sp>
      <p:sp>
        <p:nvSpPr>
          <p:cNvPr id="4" name="Text 1"/>
          <p:cNvSpPr/>
          <p:nvPr/>
        </p:nvSpPr>
        <p:spPr>
          <a:xfrm>
            <a:off x="6280190" y="5066705"/>
            <a:ext cx="7556421" cy="254079"/>
          </a:xfrm>
          <a:prstGeom prst="rect">
            <a:avLst/>
          </a:prstGeom>
          <a:noFill/>
          <a:ln/>
        </p:spPr>
        <p:txBody>
          <a:bodyPr wrap="none" lIns="0" tIns="0" rIns="0" bIns="0" rtlCol="0" anchor="t"/>
          <a:lstStyle/>
          <a:p>
            <a:pPr marL="0" indent="0" algn="l">
              <a:lnSpc>
                <a:spcPts val="2000"/>
              </a:lnSpc>
              <a:buNone/>
            </a:pPr>
            <a:r>
              <a:rPr lang="en-US" sz="1250" dirty="0">
                <a:solidFill>
                  <a:srgbClr val="C9C9C0"/>
                </a:solidFill>
                <a:latin typeface="Tomorrow" pitchFamily="34" charset="0"/>
                <a:ea typeface="Tomorrow" pitchFamily="34" charset="-122"/>
                <a:cs typeface="Tomorrow" pitchFamily="34" charset="-120"/>
              </a:rPr>
              <a:t>Araştırma Yöntem ve Teknikleri • Hazırlayan: Nezaket Demirci</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10248848" y="0"/>
            <a:ext cx="4283571" cy="8229600"/>
          </a:xfrm>
          <a:prstGeom prst="rect">
            <a:avLst/>
          </a:prstGeom>
        </p:spPr>
      </p:pic>
      <p:sp>
        <p:nvSpPr>
          <p:cNvPr id="3" name="Text 0"/>
          <p:cNvSpPr/>
          <p:nvPr/>
        </p:nvSpPr>
        <p:spPr>
          <a:xfrm>
            <a:off x="793790" y="2087999"/>
            <a:ext cx="7556421" cy="992267"/>
          </a:xfrm>
          <a:prstGeom prst="rect">
            <a:avLst/>
          </a:prstGeom>
          <a:noFill/>
          <a:ln/>
        </p:spPr>
        <p:txBody>
          <a:bodyPr wrap="squar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Konu Tanıtımı: Goth Estetiği Sosyal Medyada</a:t>
            </a:r>
            <a:endParaRPr lang="en-US" sz="3100" dirty="0"/>
          </a:p>
        </p:txBody>
      </p:sp>
      <p:sp>
        <p:nvSpPr>
          <p:cNvPr id="4" name="Text 1"/>
          <p:cNvSpPr/>
          <p:nvPr/>
        </p:nvSpPr>
        <p:spPr>
          <a:xfrm>
            <a:off x="793790" y="3377922"/>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Goth estetiği son yıllarda sosyal medya platformlarında yeniden popülerleşmiş, özellikle gençler arasında güçlü bir çekimi olmaya devam etmektedir. Bu çalışma, goth temalı içeriklerin hangi platformda—TikTok veya Instagram—daha çok etkileşim aldığını sistematik olarak araştırmaktadır.</a:t>
            </a:r>
            <a:endParaRPr lang="en-US" sz="1550" dirty="0"/>
          </a:p>
        </p:txBody>
      </p:sp>
      <p:sp>
        <p:nvSpPr>
          <p:cNvPr id="5" name="Text 2"/>
          <p:cNvSpPr/>
          <p:nvPr/>
        </p:nvSpPr>
        <p:spPr>
          <a:xfrm>
            <a:off x="793790" y="4871323"/>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Konu seçme nedeni, araştırmacının kişisel ilgi alanı olan "goth kültürü"nün dijital ortamlardaki görünürlüğünü ve etkinliğini akademik bir perspektiften analiz etme isteğidir. Bu araştırma, dijital altkültürlerin sosyal medya algoritmalarıyla nasıl etkileşim kurduğunu anlamamıza katkıda bulunacaktır.</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837473B0-CC2E-450A-ABE3-18F120FF3D39}">
                <a1611:picAttrSrcUrl xmlns:a1611="http://schemas.microsoft.com/office/drawing/2016/11/main" r:id="rId4"/>
              </a:ext>
            </a:extLst>
          </a:blip>
          <a:srcRect l="15693" r="14613"/>
          <a:stretch/>
        </p:blipFill>
        <p:spPr>
          <a:xfrm>
            <a:off x="92468" y="0"/>
            <a:ext cx="4654193" cy="8229600"/>
          </a:xfrm>
          <a:prstGeom prst="rect">
            <a:avLst/>
          </a:prstGeom>
        </p:spPr>
      </p:pic>
      <p:sp>
        <p:nvSpPr>
          <p:cNvPr id="3" name="Text 0"/>
          <p:cNvSpPr/>
          <p:nvPr/>
        </p:nvSpPr>
        <p:spPr>
          <a:xfrm>
            <a:off x="6280190" y="1522571"/>
            <a:ext cx="5781913"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Problem ve Araştırma Amacı</a:t>
            </a:r>
            <a:endParaRPr lang="en-US" sz="3100" dirty="0"/>
          </a:p>
        </p:txBody>
      </p:sp>
      <p:sp>
        <p:nvSpPr>
          <p:cNvPr id="4" name="Shape 1"/>
          <p:cNvSpPr/>
          <p:nvPr/>
        </p:nvSpPr>
        <p:spPr>
          <a:xfrm>
            <a:off x="6280190" y="2316361"/>
            <a:ext cx="7556421" cy="2096095"/>
          </a:xfrm>
          <a:prstGeom prst="roundRect">
            <a:avLst>
              <a:gd name="adj" fmla="val 1420"/>
            </a:avLst>
          </a:prstGeom>
          <a:solidFill>
            <a:srgbClr val="3C3C3A"/>
          </a:solidFill>
          <a:ln/>
        </p:spPr>
      </p:sp>
      <p:sp>
        <p:nvSpPr>
          <p:cNvPr id="5" name="Text 2"/>
          <p:cNvSpPr/>
          <p:nvPr/>
        </p:nvSpPr>
        <p:spPr>
          <a:xfrm>
            <a:off x="6478548" y="251471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Problem</a:t>
            </a:r>
            <a:endParaRPr lang="en-US" sz="1950" dirty="0"/>
          </a:p>
        </p:txBody>
      </p:sp>
      <p:sp>
        <p:nvSpPr>
          <p:cNvPr id="6" name="Text 3"/>
          <p:cNvSpPr/>
          <p:nvPr/>
        </p:nvSpPr>
        <p:spPr>
          <a:xfrm>
            <a:off x="6478548" y="2943939"/>
            <a:ext cx="7159704"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Goth içeriklerinin platformlara göre etkileşim farkı net olarak bilinmemektedir. Türkiye'de bu konuya yönelik sistematik veri bulunmamakta, dolayısıyla hangi platformda goth estetiğinin daha fazla görünür kılındığı belirsizdir.</a:t>
            </a:r>
            <a:endParaRPr lang="en-US" sz="1550" dirty="0"/>
          </a:p>
        </p:txBody>
      </p:sp>
      <p:sp>
        <p:nvSpPr>
          <p:cNvPr id="7" name="Shape 4"/>
          <p:cNvSpPr/>
          <p:nvPr/>
        </p:nvSpPr>
        <p:spPr>
          <a:xfrm>
            <a:off x="6280190" y="4610814"/>
            <a:ext cx="7556421" cy="2096095"/>
          </a:xfrm>
          <a:prstGeom prst="roundRect">
            <a:avLst>
              <a:gd name="adj" fmla="val 1420"/>
            </a:avLst>
          </a:prstGeom>
          <a:solidFill>
            <a:srgbClr val="3C3C3A"/>
          </a:solidFill>
          <a:ln/>
        </p:spPr>
      </p:sp>
      <p:sp>
        <p:nvSpPr>
          <p:cNvPr id="8" name="Text 5"/>
          <p:cNvSpPr/>
          <p:nvPr/>
        </p:nvSpPr>
        <p:spPr>
          <a:xfrm>
            <a:off x="6478548" y="4809173"/>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Araştırma Amacı</a:t>
            </a:r>
            <a:endParaRPr lang="en-US" sz="1950" dirty="0"/>
          </a:p>
        </p:txBody>
      </p:sp>
      <p:sp>
        <p:nvSpPr>
          <p:cNvPr id="9" name="Text 6"/>
          <p:cNvSpPr/>
          <p:nvPr/>
        </p:nvSpPr>
        <p:spPr>
          <a:xfrm>
            <a:off x="6478548" y="5238393"/>
            <a:ext cx="7159704"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TikTok ve Instagram'da paylaşılan goth temalı içeriklerin beğeni sayılarını karşılaştırarak, platform tercihinin etkileşim oranlarına nasıl yansıdığını ortaya koymaktır. Bu karşılaştırma, sosyal medya stratejileri ve içerik üreticilerine değerli bilgiler sağlayacaktır.</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837473B0-CC2E-450A-ABE3-18F120FF3D39}">
                <a1611:picAttrSrcUrl xmlns:a1611="http://schemas.microsoft.com/office/drawing/2016/11/main" r:id="rId4"/>
              </a:ext>
            </a:extLst>
          </a:blip>
          <a:srcRect l="5989" t="8283" r="2251" b="8283"/>
          <a:stretch/>
        </p:blipFill>
        <p:spPr>
          <a:xfrm>
            <a:off x="102741" y="0"/>
            <a:ext cx="5034337" cy="8229600"/>
          </a:xfrm>
          <a:prstGeom prst="rect">
            <a:avLst/>
          </a:prstGeom>
        </p:spPr>
      </p:pic>
      <p:sp>
        <p:nvSpPr>
          <p:cNvPr id="3" name="Text 0"/>
          <p:cNvSpPr/>
          <p:nvPr/>
        </p:nvSpPr>
        <p:spPr>
          <a:xfrm>
            <a:off x="6280190" y="1799034"/>
            <a:ext cx="6299835"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Araştırma Sorusu ve Hipotezler</a:t>
            </a:r>
            <a:endParaRPr lang="en-US" sz="3100" dirty="0"/>
          </a:p>
        </p:txBody>
      </p:sp>
      <p:sp>
        <p:nvSpPr>
          <p:cNvPr id="4" name="Text 1"/>
          <p:cNvSpPr/>
          <p:nvPr/>
        </p:nvSpPr>
        <p:spPr>
          <a:xfrm>
            <a:off x="6280190" y="2592824"/>
            <a:ext cx="7556421" cy="635079"/>
          </a:xfrm>
          <a:prstGeom prst="rect">
            <a:avLst/>
          </a:prstGeom>
          <a:noFill/>
          <a:ln/>
        </p:spPr>
        <p:txBody>
          <a:bodyPr wrap="squar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Araştırma Sorusu:</a:t>
            </a:r>
            <a:r>
              <a:rPr lang="en-US" sz="1550" dirty="0">
                <a:solidFill>
                  <a:srgbClr val="C9C9C0"/>
                </a:solidFill>
                <a:latin typeface="Tomorrow" pitchFamily="34" charset="0"/>
                <a:ea typeface="Tomorrow" pitchFamily="34" charset="-122"/>
                <a:cs typeface="Tomorrow" pitchFamily="34" charset="-120"/>
              </a:rPr>
              <a:t> "Goth temalı sosyal medya içerikleri TikTok'ta mı, yoksa Instagram'da mı daha fazla beğeni almaktadır?"</a:t>
            </a:r>
            <a:endParaRPr lang="en-US" sz="1550" dirty="0"/>
          </a:p>
        </p:txBody>
      </p:sp>
      <p:sp>
        <p:nvSpPr>
          <p:cNvPr id="5" name="Shape 2"/>
          <p:cNvSpPr/>
          <p:nvPr/>
        </p:nvSpPr>
        <p:spPr>
          <a:xfrm>
            <a:off x="6280190" y="3451146"/>
            <a:ext cx="446484" cy="446484"/>
          </a:xfrm>
          <a:prstGeom prst="roundRect">
            <a:avLst>
              <a:gd name="adj" fmla="val 6668"/>
            </a:avLst>
          </a:prstGeom>
          <a:solidFill>
            <a:srgbClr val="3C3C3A"/>
          </a:solidFill>
          <a:ln/>
        </p:spPr>
      </p:sp>
      <p:sp>
        <p:nvSpPr>
          <p:cNvPr id="6" name="Text 3"/>
          <p:cNvSpPr/>
          <p:nvPr/>
        </p:nvSpPr>
        <p:spPr>
          <a:xfrm>
            <a:off x="6925032" y="3519368"/>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Boş Hipotez (H₀)</a:t>
            </a:r>
            <a:endParaRPr lang="en-US" sz="1950" dirty="0"/>
          </a:p>
        </p:txBody>
      </p:sp>
      <p:sp>
        <p:nvSpPr>
          <p:cNvPr id="7" name="Text 4"/>
          <p:cNvSpPr/>
          <p:nvPr/>
        </p:nvSpPr>
        <p:spPr>
          <a:xfrm>
            <a:off x="6925032" y="3948589"/>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Platformlar arasında istatistiksel olarak anlamlı bir fark yoktur. Goth içeriklerinin beğeni sayıları TikTok ve Instagram'da benzer düzeylerde dağılmıştır.</a:t>
            </a:r>
            <a:endParaRPr lang="en-US" sz="1550" dirty="0"/>
          </a:p>
        </p:txBody>
      </p:sp>
      <p:sp>
        <p:nvSpPr>
          <p:cNvPr id="8" name="Shape 5"/>
          <p:cNvSpPr/>
          <p:nvPr/>
        </p:nvSpPr>
        <p:spPr>
          <a:xfrm>
            <a:off x="6280190" y="5298043"/>
            <a:ext cx="446484" cy="446484"/>
          </a:xfrm>
          <a:prstGeom prst="roundRect">
            <a:avLst>
              <a:gd name="adj" fmla="val 6668"/>
            </a:avLst>
          </a:prstGeom>
          <a:solidFill>
            <a:srgbClr val="3C3C3A"/>
          </a:solidFill>
          <a:ln/>
        </p:spPr>
      </p:sp>
      <p:sp>
        <p:nvSpPr>
          <p:cNvPr id="9" name="Text 6"/>
          <p:cNvSpPr/>
          <p:nvPr/>
        </p:nvSpPr>
        <p:spPr>
          <a:xfrm>
            <a:off x="6925032" y="5366266"/>
            <a:ext cx="2712125"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Alternatif Hipotez (H₁)</a:t>
            </a:r>
            <a:endParaRPr lang="en-US" sz="1950" dirty="0"/>
          </a:p>
        </p:txBody>
      </p:sp>
      <p:sp>
        <p:nvSpPr>
          <p:cNvPr id="10" name="Text 7"/>
          <p:cNvSpPr/>
          <p:nvPr/>
        </p:nvSpPr>
        <p:spPr>
          <a:xfrm>
            <a:off x="6925032" y="5795486"/>
            <a:ext cx="6911578"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TikTok'taki goth içerikleri, Instagram'daki aynı türde içeriklere kıyasla istatistiksel olarak anlamlı derecede daha fazla beğeni almaktadır.</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50708"/>
            <a:ext cx="4628317"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Araştırma Değişkenleri</a:t>
            </a:r>
            <a:endParaRPr lang="en-US" sz="3100" dirty="0"/>
          </a:p>
        </p:txBody>
      </p:sp>
      <p:sp>
        <p:nvSpPr>
          <p:cNvPr id="3" name="Text 1"/>
          <p:cNvSpPr/>
          <p:nvPr/>
        </p:nvSpPr>
        <p:spPr>
          <a:xfrm>
            <a:off x="793790" y="2743676"/>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Bu araştırmada aşağıdaki değişkenler belirlenmiş ve operasyonelleştirilmiştir:</a:t>
            </a:r>
            <a:endParaRPr lang="en-US" sz="1550" dirty="0"/>
          </a:p>
        </p:txBody>
      </p:sp>
      <p:sp>
        <p:nvSpPr>
          <p:cNvPr id="4" name="Shape 2"/>
          <p:cNvSpPr/>
          <p:nvPr/>
        </p:nvSpPr>
        <p:spPr>
          <a:xfrm>
            <a:off x="793790" y="3284458"/>
            <a:ext cx="13042821" cy="2363033"/>
          </a:xfrm>
          <a:prstGeom prst="roundRect">
            <a:avLst>
              <a:gd name="adj" fmla="val 1260"/>
            </a:avLst>
          </a:prstGeom>
          <a:noFill/>
          <a:ln w="7620">
            <a:solidFill>
              <a:srgbClr val="FFFFFF">
                <a:alpha val="24000"/>
              </a:srgbClr>
            </a:solidFill>
            <a:prstDash val="solid"/>
          </a:ln>
        </p:spPr>
      </p:sp>
      <p:sp>
        <p:nvSpPr>
          <p:cNvPr id="5" name="Shape 3"/>
          <p:cNvSpPr/>
          <p:nvPr/>
        </p:nvSpPr>
        <p:spPr>
          <a:xfrm>
            <a:off x="801410" y="3292078"/>
            <a:ext cx="13027581" cy="570905"/>
          </a:xfrm>
          <a:prstGeom prst="rect">
            <a:avLst/>
          </a:prstGeom>
          <a:solidFill>
            <a:srgbClr val="FFFFFF">
              <a:alpha val="4000"/>
            </a:srgbClr>
          </a:solidFill>
          <a:ln/>
        </p:spPr>
      </p:sp>
      <p:sp>
        <p:nvSpPr>
          <p:cNvPr id="6" name="Text 4"/>
          <p:cNvSpPr/>
          <p:nvPr/>
        </p:nvSpPr>
        <p:spPr>
          <a:xfrm>
            <a:off x="999887" y="3418761"/>
            <a:ext cx="2856309"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Değişken Türü</a:t>
            </a:r>
            <a:endParaRPr lang="en-US" sz="1550" dirty="0"/>
          </a:p>
        </p:txBody>
      </p:sp>
      <p:sp>
        <p:nvSpPr>
          <p:cNvPr id="7" name="Text 5"/>
          <p:cNvSpPr/>
          <p:nvPr/>
        </p:nvSpPr>
        <p:spPr>
          <a:xfrm>
            <a:off x="4260533" y="3418761"/>
            <a:ext cx="4155281"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Değişken Adı</a:t>
            </a:r>
            <a:endParaRPr lang="en-US" sz="1550" dirty="0"/>
          </a:p>
        </p:txBody>
      </p:sp>
      <p:sp>
        <p:nvSpPr>
          <p:cNvPr id="8" name="Text 6"/>
          <p:cNvSpPr/>
          <p:nvPr/>
        </p:nvSpPr>
        <p:spPr>
          <a:xfrm>
            <a:off x="8820150" y="3418761"/>
            <a:ext cx="4810482"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Açıklama</a:t>
            </a:r>
            <a:endParaRPr lang="en-US" sz="1550" dirty="0"/>
          </a:p>
        </p:txBody>
      </p:sp>
      <p:sp>
        <p:nvSpPr>
          <p:cNvPr id="9" name="Shape 7"/>
          <p:cNvSpPr/>
          <p:nvPr/>
        </p:nvSpPr>
        <p:spPr>
          <a:xfrm>
            <a:off x="801410" y="3862983"/>
            <a:ext cx="13027581" cy="888444"/>
          </a:xfrm>
          <a:prstGeom prst="rect">
            <a:avLst/>
          </a:prstGeom>
          <a:solidFill>
            <a:srgbClr val="000000">
              <a:alpha val="4000"/>
            </a:srgbClr>
          </a:solidFill>
          <a:ln/>
        </p:spPr>
      </p:sp>
      <p:sp>
        <p:nvSpPr>
          <p:cNvPr id="10" name="Text 8"/>
          <p:cNvSpPr/>
          <p:nvPr/>
        </p:nvSpPr>
        <p:spPr>
          <a:xfrm>
            <a:off x="999887" y="3989665"/>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Bağımlı</a:t>
            </a:r>
            <a:endParaRPr lang="en-US" sz="1550" dirty="0"/>
          </a:p>
        </p:txBody>
      </p:sp>
      <p:sp>
        <p:nvSpPr>
          <p:cNvPr id="11" name="Text 9"/>
          <p:cNvSpPr/>
          <p:nvPr/>
        </p:nvSpPr>
        <p:spPr>
          <a:xfrm>
            <a:off x="4260533" y="3989665"/>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Beğeni Sayısı</a:t>
            </a:r>
            <a:endParaRPr lang="en-US" sz="1550" dirty="0"/>
          </a:p>
        </p:txBody>
      </p:sp>
      <p:sp>
        <p:nvSpPr>
          <p:cNvPr id="12" name="Text 10"/>
          <p:cNvSpPr/>
          <p:nvPr/>
        </p:nvSpPr>
        <p:spPr>
          <a:xfrm>
            <a:off x="8820150" y="3989665"/>
            <a:ext cx="4810482"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Sosyal medya platformlarında goth içeriklerine verilen toplam beğeni (like) sayısı</a:t>
            </a:r>
            <a:endParaRPr lang="en-US" sz="1550" dirty="0"/>
          </a:p>
        </p:txBody>
      </p:sp>
      <p:sp>
        <p:nvSpPr>
          <p:cNvPr id="13" name="Shape 11"/>
          <p:cNvSpPr/>
          <p:nvPr/>
        </p:nvSpPr>
        <p:spPr>
          <a:xfrm>
            <a:off x="801410" y="4751427"/>
            <a:ext cx="13027581" cy="888444"/>
          </a:xfrm>
          <a:prstGeom prst="rect">
            <a:avLst/>
          </a:prstGeom>
          <a:solidFill>
            <a:srgbClr val="FFFFFF">
              <a:alpha val="4000"/>
            </a:srgbClr>
          </a:solidFill>
          <a:ln/>
        </p:spPr>
      </p:sp>
      <p:sp>
        <p:nvSpPr>
          <p:cNvPr id="14" name="Text 12"/>
          <p:cNvSpPr/>
          <p:nvPr/>
        </p:nvSpPr>
        <p:spPr>
          <a:xfrm>
            <a:off x="999887" y="4878110"/>
            <a:ext cx="2856309"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Bağımsız</a:t>
            </a:r>
            <a:endParaRPr lang="en-US" sz="1550" dirty="0"/>
          </a:p>
        </p:txBody>
      </p:sp>
      <p:sp>
        <p:nvSpPr>
          <p:cNvPr id="15" name="Text 13"/>
          <p:cNvSpPr/>
          <p:nvPr/>
        </p:nvSpPr>
        <p:spPr>
          <a:xfrm>
            <a:off x="4260533" y="4878110"/>
            <a:ext cx="4155281"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Platform Türü</a:t>
            </a:r>
            <a:endParaRPr lang="en-US" sz="1550" dirty="0"/>
          </a:p>
        </p:txBody>
      </p:sp>
      <p:sp>
        <p:nvSpPr>
          <p:cNvPr id="16" name="Text 14"/>
          <p:cNvSpPr/>
          <p:nvPr/>
        </p:nvSpPr>
        <p:spPr>
          <a:xfrm>
            <a:off x="8820150" y="4878110"/>
            <a:ext cx="4810482"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İçeriğin paylaşıldığı platform (TikTok = 1, Instagram = 2)</a:t>
            </a:r>
            <a:endParaRPr lang="en-US" sz="1550" dirty="0"/>
          </a:p>
        </p:txBody>
      </p:sp>
      <p:sp>
        <p:nvSpPr>
          <p:cNvPr id="17" name="Text 15"/>
          <p:cNvSpPr/>
          <p:nvPr/>
        </p:nvSpPr>
        <p:spPr>
          <a:xfrm>
            <a:off x="793790" y="5870734"/>
            <a:ext cx="13042821" cy="508159"/>
          </a:xfrm>
          <a:prstGeom prst="rect">
            <a:avLst/>
          </a:prstGeom>
          <a:noFill/>
          <a:ln/>
        </p:spPr>
        <p:txBody>
          <a:bodyPr wrap="square" lIns="0" tIns="0" rIns="0" bIns="0" rtlCol="0" anchor="t"/>
          <a:lstStyle/>
          <a:p>
            <a:pPr marL="0" indent="0" algn="l">
              <a:lnSpc>
                <a:spcPts val="2000"/>
              </a:lnSpc>
              <a:buNone/>
            </a:pPr>
            <a:r>
              <a:rPr lang="en-US" sz="1250" dirty="0">
                <a:solidFill>
                  <a:srgbClr val="C9C9C0"/>
                </a:solidFill>
                <a:latin typeface="Tomorrow" pitchFamily="34" charset="0"/>
                <a:ea typeface="Tomorrow" pitchFamily="34" charset="-122"/>
                <a:cs typeface="Tomorrow" pitchFamily="34" charset="-120"/>
              </a:rPr>
              <a:t>Bağımlı değişken (beğeni sayısı) ölçülen ve karşılaştırılan temel veridir. Bağımsız değişken (platform türü) ise beğeni sayılarındaki farklılığın nedeni olduğu varsayılan faktördür.</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613416"/>
            <a:ext cx="7885986"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Literatür Taraması: Önceki Araştırmalar</a:t>
            </a:r>
            <a:endParaRPr lang="en-US" sz="3100" dirty="0"/>
          </a:p>
        </p:txBody>
      </p:sp>
      <p:sp>
        <p:nvSpPr>
          <p:cNvPr id="3" name="Text 1"/>
          <p:cNvSpPr/>
          <p:nvPr/>
        </p:nvSpPr>
        <p:spPr>
          <a:xfrm>
            <a:off x="793790" y="250638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Sosyal medya etkileşim analizi konusunda yapılan önceki çalışmalar, goth estetiği ve kısa video platformlarındaki dinamikler hakkında önemli bulgular ortaya koymaktadır:</a:t>
            </a:r>
            <a:endParaRPr lang="en-US" sz="1550" dirty="0"/>
          </a:p>
        </p:txBody>
      </p:sp>
      <p:sp>
        <p:nvSpPr>
          <p:cNvPr id="4" name="Shape 2"/>
          <p:cNvSpPr/>
          <p:nvPr/>
        </p:nvSpPr>
        <p:spPr>
          <a:xfrm>
            <a:off x="793790" y="3364706"/>
            <a:ext cx="13042821" cy="3251478"/>
          </a:xfrm>
          <a:prstGeom prst="roundRect">
            <a:avLst>
              <a:gd name="adj" fmla="val 916"/>
            </a:avLst>
          </a:prstGeom>
          <a:noFill/>
          <a:ln w="7620">
            <a:solidFill>
              <a:srgbClr val="FFFFFF">
                <a:alpha val="24000"/>
              </a:srgbClr>
            </a:solidFill>
            <a:prstDash val="solid"/>
          </a:ln>
        </p:spPr>
      </p:sp>
      <p:sp>
        <p:nvSpPr>
          <p:cNvPr id="5" name="Shape 3"/>
          <p:cNvSpPr/>
          <p:nvPr/>
        </p:nvSpPr>
        <p:spPr>
          <a:xfrm>
            <a:off x="801410" y="3372326"/>
            <a:ext cx="13027581" cy="570905"/>
          </a:xfrm>
          <a:prstGeom prst="rect">
            <a:avLst/>
          </a:prstGeom>
          <a:solidFill>
            <a:srgbClr val="FFFFFF">
              <a:alpha val="4000"/>
            </a:srgbClr>
          </a:solidFill>
          <a:ln/>
        </p:spPr>
      </p:sp>
      <p:sp>
        <p:nvSpPr>
          <p:cNvPr id="6" name="Text 4"/>
          <p:cNvSpPr/>
          <p:nvPr/>
        </p:nvSpPr>
        <p:spPr>
          <a:xfrm>
            <a:off x="1000006" y="3499009"/>
            <a:ext cx="1944410"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Yazar (Yıl)</a:t>
            </a:r>
            <a:endParaRPr lang="en-US" sz="1550" dirty="0"/>
          </a:p>
        </p:txBody>
      </p:sp>
      <p:sp>
        <p:nvSpPr>
          <p:cNvPr id="7" name="Text 5"/>
          <p:cNvSpPr/>
          <p:nvPr/>
        </p:nvSpPr>
        <p:spPr>
          <a:xfrm>
            <a:off x="3348752" y="3499009"/>
            <a:ext cx="2461617"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Konu</a:t>
            </a:r>
            <a:endParaRPr lang="en-US" sz="1550" dirty="0"/>
          </a:p>
        </p:txBody>
      </p:sp>
      <p:sp>
        <p:nvSpPr>
          <p:cNvPr id="8" name="Text 6"/>
          <p:cNvSpPr/>
          <p:nvPr/>
        </p:nvSpPr>
        <p:spPr>
          <a:xfrm>
            <a:off x="6214705" y="3499009"/>
            <a:ext cx="2201108"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Yöntem</a:t>
            </a:r>
            <a:endParaRPr lang="en-US" sz="1550" dirty="0"/>
          </a:p>
        </p:txBody>
      </p:sp>
      <p:sp>
        <p:nvSpPr>
          <p:cNvPr id="9" name="Text 7"/>
          <p:cNvSpPr/>
          <p:nvPr/>
        </p:nvSpPr>
        <p:spPr>
          <a:xfrm>
            <a:off x="8820150" y="3499009"/>
            <a:ext cx="4810482" cy="317540"/>
          </a:xfrm>
          <a:prstGeom prst="rect">
            <a:avLst/>
          </a:prstGeom>
          <a:noFill/>
          <a:ln/>
        </p:spPr>
        <p:txBody>
          <a:bodyPr wrap="none" lIns="0" tIns="0" rIns="0" bIns="0" rtlCol="0" anchor="t"/>
          <a:lstStyle/>
          <a:p>
            <a:pPr marL="0" indent="0" algn="l">
              <a:lnSpc>
                <a:spcPts val="2500"/>
              </a:lnSpc>
              <a:buNone/>
            </a:pPr>
            <a:r>
              <a:rPr lang="en-US" sz="1550" b="1" dirty="0">
                <a:solidFill>
                  <a:srgbClr val="C9C9C0"/>
                </a:solidFill>
                <a:latin typeface="Tomorrow" pitchFamily="34" charset="0"/>
                <a:ea typeface="Tomorrow" pitchFamily="34" charset="-122"/>
                <a:cs typeface="Tomorrow" pitchFamily="34" charset="-120"/>
              </a:rPr>
              <a:t>Sonuç</a:t>
            </a:r>
            <a:endParaRPr lang="en-US" sz="1550" dirty="0"/>
          </a:p>
        </p:txBody>
      </p:sp>
      <p:sp>
        <p:nvSpPr>
          <p:cNvPr id="10" name="Shape 8"/>
          <p:cNvSpPr/>
          <p:nvPr/>
        </p:nvSpPr>
        <p:spPr>
          <a:xfrm>
            <a:off x="801410" y="3943231"/>
            <a:ext cx="13027581" cy="888444"/>
          </a:xfrm>
          <a:prstGeom prst="rect">
            <a:avLst/>
          </a:prstGeom>
          <a:solidFill>
            <a:srgbClr val="000000">
              <a:alpha val="4000"/>
            </a:srgbClr>
          </a:solidFill>
          <a:ln/>
        </p:spPr>
      </p:sp>
      <p:sp>
        <p:nvSpPr>
          <p:cNvPr id="11" name="Text 9"/>
          <p:cNvSpPr/>
          <p:nvPr/>
        </p:nvSpPr>
        <p:spPr>
          <a:xfrm>
            <a:off x="1000006" y="4069913"/>
            <a:ext cx="1944410"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Zhang vd. (2021)</a:t>
            </a:r>
            <a:endParaRPr lang="en-US" sz="1550" dirty="0"/>
          </a:p>
        </p:txBody>
      </p:sp>
      <p:sp>
        <p:nvSpPr>
          <p:cNvPr id="12" name="Text 10"/>
          <p:cNvSpPr/>
          <p:nvPr/>
        </p:nvSpPr>
        <p:spPr>
          <a:xfrm>
            <a:off x="3348752" y="4069913"/>
            <a:ext cx="2461617"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Sosyal medya etkileşim analizi</a:t>
            </a:r>
            <a:endParaRPr lang="en-US" sz="1550" dirty="0"/>
          </a:p>
        </p:txBody>
      </p:sp>
      <p:sp>
        <p:nvSpPr>
          <p:cNvPr id="13" name="Text 11"/>
          <p:cNvSpPr/>
          <p:nvPr/>
        </p:nvSpPr>
        <p:spPr>
          <a:xfrm>
            <a:off x="6214705" y="4069913"/>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Regresyon modeli</a:t>
            </a:r>
            <a:endParaRPr lang="en-US" sz="1550" dirty="0"/>
          </a:p>
        </p:txBody>
      </p:sp>
      <p:sp>
        <p:nvSpPr>
          <p:cNvPr id="14" name="Text 12"/>
          <p:cNvSpPr/>
          <p:nvPr/>
        </p:nvSpPr>
        <p:spPr>
          <a:xfrm>
            <a:off x="8820150" y="4069913"/>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TikTok daha yüksek etkileşim göstermektedir</a:t>
            </a:r>
            <a:endParaRPr lang="en-US" sz="1550" dirty="0"/>
          </a:p>
        </p:txBody>
      </p:sp>
      <p:sp>
        <p:nvSpPr>
          <p:cNvPr id="15" name="Shape 13"/>
          <p:cNvSpPr/>
          <p:nvPr/>
        </p:nvSpPr>
        <p:spPr>
          <a:xfrm>
            <a:off x="801410" y="4831675"/>
            <a:ext cx="13027581" cy="888444"/>
          </a:xfrm>
          <a:prstGeom prst="rect">
            <a:avLst/>
          </a:prstGeom>
          <a:solidFill>
            <a:srgbClr val="FFFFFF">
              <a:alpha val="4000"/>
            </a:srgbClr>
          </a:solidFill>
          <a:ln/>
        </p:spPr>
      </p:sp>
      <p:sp>
        <p:nvSpPr>
          <p:cNvPr id="16" name="Text 14"/>
          <p:cNvSpPr/>
          <p:nvPr/>
        </p:nvSpPr>
        <p:spPr>
          <a:xfrm>
            <a:off x="1000006" y="4958358"/>
            <a:ext cx="1944410"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Kara &amp; Demir (2022)</a:t>
            </a:r>
            <a:endParaRPr lang="en-US" sz="1550" dirty="0"/>
          </a:p>
        </p:txBody>
      </p:sp>
      <p:sp>
        <p:nvSpPr>
          <p:cNvPr id="17" name="Text 15"/>
          <p:cNvSpPr/>
          <p:nvPr/>
        </p:nvSpPr>
        <p:spPr>
          <a:xfrm>
            <a:off x="3348752" y="4958358"/>
            <a:ext cx="2461617"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Estetik içeriklerin paylaşım oranı</a:t>
            </a:r>
            <a:endParaRPr lang="en-US" sz="1550" dirty="0"/>
          </a:p>
        </p:txBody>
      </p:sp>
      <p:sp>
        <p:nvSpPr>
          <p:cNvPr id="18" name="Text 16"/>
          <p:cNvSpPr/>
          <p:nvPr/>
        </p:nvSpPr>
        <p:spPr>
          <a:xfrm>
            <a:off x="6214705" y="4958358"/>
            <a:ext cx="2201108"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Görsel içerik analizi</a:t>
            </a:r>
            <a:endParaRPr lang="en-US" sz="1550" dirty="0"/>
          </a:p>
        </p:txBody>
      </p:sp>
      <p:sp>
        <p:nvSpPr>
          <p:cNvPr id="19" name="Text 17"/>
          <p:cNvSpPr/>
          <p:nvPr/>
        </p:nvSpPr>
        <p:spPr>
          <a:xfrm>
            <a:off x="8820150" y="4958358"/>
            <a:ext cx="4810482"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Estetik içerikler TikTok'ta daha fazla öne çıkmaktadır</a:t>
            </a:r>
            <a:endParaRPr lang="en-US" sz="1550" dirty="0"/>
          </a:p>
        </p:txBody>
      </p:sp>
      <p:sp>
        <p:nvSpPr>
          <p:cNvPr id="20" name="Shape 18"/>
          <p:cNvSpPr/>
          <p:nvPr/>
        </p:nvSpPr>
        <p:spPr>
          <a:xfrm>
            <a:off x="801410" y="5720120"/>
            <a:ext cx="13027581" cy="888444"/>
          </a:xfrm>
          <a:prstGeom prst="rect">
            <a:avLst/>
          </a:prstGeom>
          <a:solidFill>
            <a:srgbClr val="000000">
              <a:alpha val="4000"/>
            </a:srgbClr>
          </a:solidFill>
          <a:ln/>
        </p:spPr>
      </p:sp>
      <p:sp>
        <p:nvSpPr>
          <p:cNvPr id="21" name="Text 19"/>
          <p:cNvSpPr/>
          <p:nvPr/>
        </p:nvSpPr>
        <p:spPr>
          <a:xfrm>
            <a:off x="1000006" y="5846802"/>
            <a:ext cx="1944410"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Yu (2023)</a:t>
            </a:r>
            <a:endParaRPr lang="en-US" sz="1550" dirty="0"/>
          </a:p>
        </p:txBody>
      </p:sp>
      <p:sp>
        <p:nvSpPr>
          <p:cNvPr id="22" name="Text 20"/>
          <p:cNvSpPr/>
          <p:nvPr/>
        </p:nvSpPr>
        <p:spPr>
          <a:xfrm>
            <a:off x="3348752" y="5846802"/>
            <a:ext cx="2461617"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Dijital altkültürler</a:t>
            </a:r>
            <a:endParaRPr lang="en-US" sz="1550" dirty="0"/>
          </a:p>
        </p:txBody>
      </p:sp>
      <p:sp>
        <p:nvSpPr>
          <p:cNvPr id="23" name="Text 21"/>
          <p:cNvSpPr/>
          <p:nvPr/>
        </p:nvSpPr>
        <p:spPr>
          <a:xfrm>
            <a:off x="6214705" y="5846802"/>
            <a:ext cx="2201108" cy="63507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Sistematik içerik analizi</a:t>
            </a:r>
            <a:endParaRPr lang="en-US" sz="1550" dirty="0"/>
          </a:p>
        </p:txBody>
      </p:sp>
      <p:sp>
        <p:nvSpPr>
          <p:cNvPr id="24" name="Text 22"/>
          <p:cNvSpPr/>
          <p:nvPr/>
        </p:nvSpPr>
        <p:spPr>
          <a:xfrm>
            <a:off x="8820150" y="5846802"/>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Goth estetiği, kısa videolarda özellikle popüler</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837473B0-CC2E-450A-ABE3-18F120FF3D39}">
                <a1611:picAttrSrcUrl xmlns:a1611="http://schemas.microsoft.com/office/drawing/2016/11/main" r:id="rId4"/>
              </a:ext>
            </a:extLst>
          </a:blip>
          <a:srcRect l="5000" r="15730"/>
          <a:stretch/>
        </p:blipFill>
        <p:spPr>
          <a:xfrm>
            <a:off x="99659" y="-9293"/>
            <a:ext cx="5165157" cy="8238893"/>
          </a:xfrm>
          <a:prstGeom prst="rect">
            <a:avLst/>
          </a:prstGeom>
        </p:spPr>
      </p:pic>
      <p:sp>
        <p:nvSpPr>
          <p:cNvPr id="3" name="Text 0"/>
          <p:cNvSpPr/>
          <p:nvPr/>
        </p:nvSpPr>
        <p:spPr>
          <a:xfrm>
            <a:off x="6280190" y="1635681"/>
            <a:ext cx="6950631"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Araştırma Boşluğu (Research Gap)</a:t>
            </a:r>
            <a:endParaRPr lang="en-US" sz="3100" dirty="0"/>
          </a:p>
        </p:txBody>
      </p:sp>
      <p:sp>
        <p:nvSpPr>
          <p:cNvPr id="4" name="Shape 1"/>
          <p:cNvSpPr/>
          <p:nvPr/>
        </p:nvSpPr>
        <p:spPr>
          <a:xfrm>
            <a:off x="6280190" y="2429470"/>
            <a:ext cx="7556421" cy="1824276"/>
          </a:xfrm>
          <a:prstGeom prst="roundRect">
            <a:avLst>
              <a:gd name="adj" fmla="val 6015"/>
            </a:avLst>
          </a:prstGeom>
          <a:solidFill>
            <a:srgbClr val="1D1D1B"/>
          </a:solidFill>
          <a:ln w="22860">
            <a:solidFill>
              <a:srgbClr val="555553"/>
            </a:solidFill>
            <a:prstDash val="solid"/>
          </a:ln>
        </p:spPr>
      </p:sp>
      <p:sp>
        <p:nvSpPr>
          <p:cNvPr id="5" name="Shape 2"/>
          <p:cNvSpPr/>
          <p:nvPr/>
        </p:nvSpPr>
        <p:spPr>
          <a:xfrm>
            <a:off x="6257330" y="2429470"/>
            <a:ext cx="91440" cy="1824276"/>
          </a:xfrm>
          <a:prstGeom prst="roundRect">
            <a:avLst>
              <a:gd name="adj" fmla="val 32558"/>
            </a:avLst>
          </a:prstGeom>
          <a:solidFill>
            <a:srgbClr val="E1E1DF"/>
          </a:solidFill>
          <a:ln/>
        </p:spPr>
      </p:sp>
      <p:sp>
        <p:nvSpPr>
          <p:cNvPr id="6" name="Text 3"/>
          <p:cNvSpPr/>
          <p:nvPr/>
        </p:nvSpPr>
        <p:spPr>
          <a:xfrm>
            <a:off x="6569988" y="2650688"/>
            <a:ext cx="2648783"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Türkiye'de Eksik Alan</a:t>
            </a:r>
            <a:endParaRPr lang="en-US" sz="1950" dirty="0"/>
          </a:p>
        </p:txBody>
      </p:sp>
      <p:sp>
        <p:nvSpPr>
          <p:cNvPr id="7" name="Text 4"/>
          <p:cNvSpPr/>
          <p:nvPr/>
        </p:nvSpPr>
        <p:spPr>
          <a:xfrm>
            <a:off x="6569988" y="3079909"/>
            <a:ext cx="7045404" cy="95261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Türkiye'de goth içeriklerinin sosyal medyadaki etkileşimini ölçen kapsamlı akademik çalışma bulunmamaktadır. Bu konuda sistemli veriler eksiktir ve altkültürlerin dijital ortamdaki dinamikleri yeterince incelenmemiştir.</a:t>
            </a:r>
            <a:endParaRPr lang="en-US" sz="1550" dirty="0"/>
          </a:p>
        </p:txBody>
      </p:sp>
      <p:sp>
        <p:nvSpPr>
          <p:cNvPr id="8" name="Shape 5"/>
          <p:cNvSpPr/>
          <p:nvPr/>
        </p:nvSpPr>
        <p:spPr>
          <a:xfrm>
            <a:off x="6280190" y="4452104"/>
            <a:ext cx="7556421" cy="2141815"/>
          </a:xfrm>
          <a:prstGeom prst="roundRect">
            <a:avLst>
              <a:gd name="adj" fmla="val 5123"/>
            </a:avLst>
          </a:prstGeom>
          <a:solidFill>
            <a:srgbClr val="1D1D1B"/>
          </a:solidFill>
          <a:ln w="22860">
            <a:solidFill>
              <a:srgbClr val="555553"/>
            </a:solidFill>
            <a:prstDash val="solid"/>
          </a:ln>
        </p:spPr>
      </p:sp>
      <p:sp>
        <p:nvSpPr>
          <p:cNvPr id="9" name="Shape 6"/>
          <p:cNvSpPr/>
          <p:nvPr/>
        </p:nvSpPr>
        <p:spPr>
          <a:xfrm>
            <a:off x="6257330" y="4452104"/>
            <a:ext cx="91440" cy="2141815"/>
          </a:xfrm>
          <a:prstGeom prst="roundRect">
            <a:avLst>
              <a:gd name="adj" fmla="val 32558"/>
            </a:avLst>
          </a:prstGeom>
          <a:solidFill>
            <a:srgbClr val="E1E1DF"/>
          </a:solidFill>
          <a:ln/>
        </p:spPr>
      </p:sp>
      <p:sp>
        <p:nvSpPr>
          <p:cNvPr id="10" name="Text 7"/>
          <p:cNvSpPr/>
          <p:nvPr/>
        </p:nvSpPr>
        <p:spPr>
          <a:xfrm>
            <a:off x="6569988" y="4673322"/>
            <a:ext cx="2966918" cy="310158"/>
          </a:xfrm>
          <a:prstGeom prst="rect">
            <a:avLst/>
          </a:prstGeom>
          <a:noFill/>
          <a:ln/>
        </p:spPr>
        <p:txBody>
          <a:bodyPr wrap="none" lIns="0" tIns="0" rIns="0" bIns="0" rtlCol="0" anchor="t"/>
          <a:lstStyle/>
          <a:p>
            <a:pPr marL="0" indent="0" algn="l">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Bu Araştırmanın Katkısı</a:t>
            </a:r>
            <a:endParaRPr lang="en-US" sz="1950" dirty="0"/>
          </a:p>
        </p:txBody>
      </p:sp>
      <p:sp>
        <p:nvSpPr>
          <p:cNvPr id="11" name="Text 8"/>
          <p:cNvSpPr/>
          <p:nvPr/>
        </p:nvSpPr>
        <p:spPr>
          <a:xfrm>
            <a:off x="6569988" y="5102543"/>
            <a:ext cx="7045404" cy="1270159"/>
          </a:xfrm>
          <a:prstGeom prst="rect">
            <a:avLst/>
          </a:prstGeom>
          <a:noFill/>
          <a:ln/>
        </p:spPr>
        <p:txBody>
          <a:bodyPr wrap="square" lIns="0" tIns="0" rIns="0" bIns="0" rtlCol="0" anchor="t"/>
          <a:lstStyle/>
          <a:p>
            <a:pPr marL="0" indent="0" algn="l">
              <a:lnSpc>
                <a:spcPts val="2500"/>
              </a:lnSpc>
              <a:buNone/>
            </a:pPr>
            <a:r>
              <a:rPr lang="en-US" sz="1550" dirty="0">
                <a:solidFill>
                  <a:srgbClr val="C9C9C0"/>
                </a:solidFill>
                <a:latin typeface="Tomorrow" pitchFamily="34" charset="0"/>
                <a:ea typeface="Tomorrow" pitchFamily="34" charset="-122"/>
                <a:cs typeface="Tomorrow" pitchFamily="34" charset="-120"/>
              </a:rPr>
              <a:t>Bu proje, küçük ölçekli de olsa, Türkiye'deki bu araştırma boşluğunu doldurmayı amaçlamaktadır. Goth estetiğinin platform tercihlerine göre nasıl değişen etkileşim oranları gösterdiğini ortaya koymak, gelecek araştırmalar için temel bir kaynak sağlayacaktır.</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b="56006"/>
          <a:stretch/>
        </p:blipFill>
        <p:spPr>
          <a:xfrm>
            <a:off x="0" y="0"/>
            <a:ext cx="14630399" cy="2387464"/>
          </a:xfrm>
          <a:prstGeom prst="rect">
            <a:avLst/>
          </a:prstGeom>
        </p:spPr>
      </p:pic>
      <p:sp>
        <p:nvSpPr>
          <p:cNvPr id="3" name="Text 0"/>
          <p:cNvSpPr/>
          <p:nvPr/>
        </p:nvSpPr>
        <p:spPr>
          <a:xfrm>
            <a:off x="793790" y="2500551"/>
            <a:ext cx="4088011" cy="347305"/>
          </a:xfrm>
          <a:prstGeom prst="rect">
            <a:avLst/>
          </a:prstGeom>
          <a:noFill/>
          <a:ln/>
        </p:spPr>
        <p:txBody>
          <a:bodyPr wrap="none" lIns="0" tIns="0" rIns="0" bIns="0" rtlCol="0" anchor="t"/>
          <a:lstStyle/>
          <a:p>
            <a:pPr marL="0" indent="0" algn="l">
              <a:lnSpc>
                <a:spcPts val="2700"/>
              </a:lnSpc>
              <a:buNone/>
            </a:pPr>
            <a:r>
              <a:rPr lang="en-US" sz="2150" dirty="0">
                <a:solidFill>
                  <a:srgbClr val="EDEDE8"/>
                </a:solidFill>
                <a:latin typeface="Tomorrow Semi Bold" pitchFamily="34" charset="0"/>
                <a:ea typeface="Tomorrow Semi Bold" pitchFamily="34" charset="-122"/>
                <a:cs typeface="Tomorrow Semi Bold" pitchFamily="34" charset="-120"/>
              </a:rPr>
              <a:t>Temel Kavramlar ve Tanımlar</a:t>
            </a:r>
            <a:endParaRPr lang="en-US" sz="2150" dirty="0"/>
          </a:p>
        </p:txBody>
      </p:sp>
      <p:sp>
        <p:nvSpPr>
          <p:cNvPr id="4" name="Shape 1"/>
          <p:cNvSpPr/>
          <p:nvPr/>
        </p:nvSpPr>
        <p:spPr>
          <a:xfrm>
            <a:off x="793790" y="3056215"/>
            <a:ext cx="13042821" cy="1053108"/>
          </a:xfrm>
          <a:prstGeom prst="roundRect">
            <a:avLst>
              <a:gd name="adj" fmla="val 1979"/>
            </a:avLst>
          </a:prstGeom>
          <a:solidFill>
            <a:srgbClr val="1D1D1B"/>
          </a:solidFill>
          <a:ln w="15240">
            <a:solidFill>
              <a:srgbClr val="555553"/>
            </a:solidFill>
            <a:prstDash val="solid"/>
          </a:ln>
        </p:spPr>
      </p:sp>
      <p:sp>
        <p:nvSpPr>
          <p:cNvPr id="5" name="Shape 2"/>
          <p:cNvSpPr/>
          <p:nvPr/>
        </p:nvSpPr>
        <p:spPr>
          <a:xfrm>
            <a:off x="809030" y="3071455"/>
            <a:ext cx="555665" cy="1022628"/>
          </a:xfrm>
          <a:prstGeom prst="roundRect">
            <a:avLst>
              <a:gd name="adj" fmla="val 459"/>
            </a:avLst>
          </a:prstGeom>
          <a:solidFill>
            <a:srgbClr val="3C3C3A"/>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82623" y="3478530"/>
            <a:ext cx="208359" cy="208359"/>
          </a:xfrm>
          <a:prstGeom prst="rect">
            <a:avLst/>
          </a:prstGeom>
        </p:spPr>
      </p:pic>
      <p:sp>
        <p:nvSpPr>
          <p:cNvPr id="7" name="Text 3"/>
          <p:cNvSpPr/>
          <p:nvPr/>
        </p:nvSpPr>
        <p:spPr>
          <a:xfrm>
            <a:off x="1503521" y="3210282"/>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C9C9C0"/>
                </a:solidFill>
                <a:latin typeface="Tomorrow Semi Bold" pitchFamily="34" charset="0"/>
                <a:ea typeface="Tomorrow Semi Bold" pitchFamily="34" charset="-122"/>
                <a:cs typeface="Tomorrow Semi Bold" pitchFamily="34" charset="-120"/>
              </a:rPr>
              <a:t>Goth Estetiği</a:t>
            </a:r>
            <a:endParaRPr lang="en-US" sz="1350" dirty="0"/>
          </a:p>
        </p:txBody>
      </p:sp>
      <p:sp>
        <p:nvSpPr>
          <p:cNvPr id="8" name="Text 4"/>
          <p:cNvSpPr/>
          <p:nvPr/>
        </p:nvSpPr>
        <p:spPr>
          <a:xfrm>
            <a:off x="1503521" y="3510677"/>
            <a:ext cx="12179022" cy="444579"/>
          </a:xfrm>
          <a:prstGeom prst="rect">
            <a:avLst/>
          </a:prstGeom>
          <a:noFill/>
          <a:ln/>
        </p:spPr>
        <p:txBody>
          <a:bodyPr wrap="square" lIns="0" tIns="0" rIns="0" bIns="0" rtlCol="0" anchor="t"/>
          <a:lstStyle/>
          <a:p>
            <a:pPr marL="0" indent="0" algn="l">
              <a:lnSpc>
                <a:spcPts val="1750"/>
              </a:lnSpc>
              <a:buNone/>
            </a:pPr>
            <a:r>
              <a:rPr lang="en-US" sz="1050" dirty="0">
                <a:solidFill>
                  <a:srgbClr val="C9C9C0"/>
                </a:solidFill>
                <a:latin typeface="Tomorrow" pitchFamily="34" charset="0"/>
                <a:ea typeface="Tomorrow" pitchFamily="34" charset="-122"/>
                <a:cs typeface="Tomorrow" pitchFamily="34" charset="-120"/>
              </a:rPr>
              <a:t>Karanlık, romantik ve alternatif bir görsel tarz olup, klasik gotik edebiyattan ve müzikten esinlenen gözlemci eleştirel ve yaratıcı bir yaşam felsefesidir. Giyim, makyaj ve yaşam tarzı seçimlerinde karanlık renkler, romantik ve çoğu zaman melankoli ifadeleri barındırır.</a:t>
            </a:r>
            <a:endParaRPr lang="en-US" sz="1050" dirty="0"/>
          </a:p>
        </p:txBody>
      </p:sp>
      <p:sp>
        <p:nvSpPr>
          <p:cNvPr id="9" name="Shape 5"/>
          <p:cNvSpPr/>
          <p:nvPr/>
        </p:nvSpPr>
        <p:spPr>
          <a:xfrm>
            <a:off x="793790" y="4248150"/>
            <a:ext cx="13042821" cy="1053108"/>
          </a:xfrm>
          <a:prstGeom prst="roundRect">
            <a:avLst>
              <a:gd name="adj" fmla="val 1979"/>
            </a:avLst>
          </a:prstGeom>
          <a:solidFill>
            <a:srgbClr val="1D1D1B"/>
          </a:solidFill>
          <a:ln w="15240">
            <a:solidFill>
              <a:srgbClr val="555553"/>
            </a:solidFill>
            <a:prstDash val="solid"/>
          </a:ln>
        </p:spPr>
      </p:sp>
      <p:sp>
        <p:nvSpPr>
          <p:cNvPr id="10" name="Shape 6"/>
          <p:cNvSpPr/>
          <p:nvPr/>
        </p:nvSpPr>
        <p:spPr>
          <a:xfrm>
            <a:off x="809030" y="4263390"/>
            <a:ext cx="555665" cy="1022628"/>
          </a:xfrm>
          <a:prstGeom prst="roundRect">
            <a:avLst>
              <a:gd name="adj" fmla="val 459"/>
            </a:avLst>
          </a:prstGeom>
          <a:solidFill>
            <a:srgbClr val="3C3C3A"/>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2623" y="4670465"/>
            <a:ext cx="208359" cy="208359"/>
          </a:xfrm>
          <a:prstGeom prst="rect">
            <a:avLst/>
          </a:prstGeom>
        </p:spPr>
      </p:pic>
      <p:sp>
        <p:nvSpPr>
          <p:cNvPr id="12" name="Text 7"/>
          <p:cNvSpPr/>
          <p:nvPr/>
        </p:nvSpPr>
        <p:spPr>
          <a:xfrm>
            <a:off x="1503521" y="4402217"/>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C9C9C0"/>
                </a:solidFill>
                <a:latin typeface="Tomorrow Semi Bold" pitchFamily="34" charset="0"/>
                <a:ea typeface="Tomorrow Semi Bold" pitchFamily="34" charset="-122"/>
                <a:cs typeface="Tomorrow Semi Bold" pitchFamily="34" charset="-120"/>
              </a:rPr>
              <a:t>Etkileşim</a:t>
            </a:r>
            <a:endParaRPr lang="en-US" sz="1350" dirty="0"/>
          </a:p>
        </p:txBody>
      </p:sp>
      <p:sp>
        <p:nvSpPr>
          <p:cNvPr id="13" name="Text 8"/>
          <p:cNvSpPr/>
          <p:nvPr/>
        </p:nvSpPr>
        <p:spPr>
          <a:xfrm>
            <a:off x="1503521" y="4702612"/>
            <a:ext cx="12179022" cy="444579"/>
          </a:xfrm>
          <a:prstGeom prst="rect">
            <a:avLst/>
          </a:prstGeom>
          <a:noFill/>
          <a:ln/>
        </p:spPr>
        <p:txBody>
          <a:bodyPr wrap="square" lIns="0" tIns="0" rIns="0" bIns="0" rtlCol="0" anchor="t"/>
          <a:lstStyle/>
          <a:p>
            <a:pPr marL="0" indent="0" algn="l">
              <a:lnSpc>
                <a:spcPts val="1750"/>
              </a:lnSpc>
              <a:buNone/>
            </a:pPr>
            <a:r>
              <a:rPr lang="en-US" sz="1050" dirty="0">
                <a:solidFill>
                  <a:srgbClr val="C9C9C0"/>
                </a:solidFill>
                <a:latin typeface="Tomorrow" pitchFamily="34" charset="0"/>
                <a:ea typeface="Tomorrow" pitchFamily="34" charset="-122"/>
                <a:cs typeface="Tomorrow" pitchFamily="34" charset="-120"/>
              </a:rPr>
              <a:t>Sosyal medyada kullanıcıların içerikle olan ilişkisini gösteren davranışlar (beğeni, paylaşım, yorum, kaydedilme vb.). Bu araştırmada özellikle "beğeni" etkileşim göstergesi olarak kullanılmaktadır.</a:t>
            </a:r>
            <a:endParaRPr lang="en-US" sz="1050" dirty="0"/>
          </a:p>
        </p:txBody>
      </p:sp>
      <p:sp>
        <p:nvSpPr>
          <p:cNvPr id="14" name="Shape 9"/>
          <p:cNvSpPr/>
          <p:nvPr/>
        </p:nvSpPr>
        <p:spPr>
          <a:xfrm>
            <a:off x="793790" y="5440085"/>
            <a:ext cx="13042821" cy="1053108"/>
          </a:xfrm>
          <a:prstGeom prst="roundRect">
            <a:avLst>
              <a:gd name="adj" fmla="val 1979"/>
            </a:avLst>
          </a:prstGeom>
          <a:solidFill>
            <a:srgbClr val="1D1D1B"/>
          </a:solidFill>
          <a:ln w="15240">
            <a:solidFill>
              <a:srgbClr val="555553"/>
            </a:solidFill>
            <a:prstDash val="solid"/>
          </a:ln>
        </p:spPr>
      </p:sp>
      <p:sp>
        <p:nvSpPr>
          <p:cNvPr id="15" name="Shape 10"/>
          <p:cNvSpPr/>
          <p:nvPr/>
        </p:nvSpPr>
        <p:spPr>
          <a:xfrm>
            <a:off x="809030" y="5455325"/>
            <a:ext cx="555665" cy="1022628"/>
          </a:xfrm>
          <a:prstGeom prst="roundRect">
            <a:avLst>
              <a:gd name="adj" fmla="val 459"/>
            </a:avLst>
          </a:prstGeom>
          <a:solidFill>
            <a:srgbClr val="3C3C3A"/>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2623" y="5862399"/>
            <a:ext cx="208359" cy="208359"/>
          </a:xfrm>
          <a:prstGeom prst="rect">
            <a:avLst/>
          </a:prstGeom>
        </p:spPr>
      </p:pic>
      <p:sp>
        <p:nvSpPr>
          <p:cNvPr id="17" name="Text 11"/>
          <p:cNvSpPr/>
          <p:nvPr/>
        </p:nvSpPr>
        <p:spPr>
          <a:xfrm>
            <a:off x="1503521" y="5594152"/>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C9C9C0"/>
                </a:solidFill>
                <a:latin typeface="Tomorrow Semi Bold" pitchFamily="34" charset="0"/>
                <a:ea typeface="Tomorrow Semi Bold" pitchFamily="34" charset="-122"/>
                <a:cs typeface="Tomorrow Semi Bold" pitchFamily="34" charset="-120"/>
              </a:rPr>
              <a:t>Platform</a:t>
            </a:r>
            <a:endParaRPr lang="en-US" sz="1350" dirty="0"/>
          </a:p>
        </p:txBody>
      </p:sp>
      <p:sp>
        <p:nvSpPr>
          <p:cNvPr id="18" name="Text 12"/>
          <p:cNvSpPr/>
          <p:nvPr/>
        </p:nvSpPr>
        <p:spPr>
          <a:xfrm>
            <a:off x="1503521" y="5894546"/>
            <a:ext cx="12179022" cy="444579"/>
          </a:xfrm>
          <a:prstGeom prst="rect">
            <a:avLst/>
          </a:prstGeom>
          <a:noFill/>
          <a:ln/>
        </p:spPr>
        <p:txBody>
          <a:bodyPr wrap="square" lIns="0" tIns="0" rIns="0" bIns="0" rtlCol="0" anchor="t"/>
          <a:lstStyle/>
          <a:p>
            <a:pPr marL="0" indent="0" algn="l">
              <a:lnSpc>
                <a:spcPts val="1750"/>
              </a:lnSpc>
              <a:buNone/>
            </a:pPr>
            <a:r>
              <a:rPr lang="en-US" sz="1050" dirty="0">
                <a:solidFill>
                  <a:srgbClr val="C9C9C0"/>
                </a:solidFill>
                <a:latin typeface="Tomorrow" pitchFamily="34" charset="0"/>
                <a:ea typeface="Tomorrow" pitchFamily="34" charset="-122"/>
                <a:cs typeface="Tomorrow" pitchFamily="34" charset="-120"/>
              </a:rPr>
              <a:t>İçeriklerin paylaşıldığı dijital ortamlar. Bu araştırmada TikTok (kısa video platformu) ve Instagram (içerik paylaşım platformu) incelenmektedir; her platformun farklı algoritmaları ve kullanıcı davranışları vardır.</a:t>
            </a:r>
            <a:endParaRPr lang="en-US" sz="1050" dirty="0"/>
          </a:p>
        </p:txBody>
      </p:sp>
      <p:sp>
        <p:nvSpPr>
          <p:cNvPr id="19" name="Shape 13"/>
          <p:cNvSpPr/>
          <p:nvPr/>
        </p:nvSpPr>
        <p:spPr>
          <a:xfrm>
            <a:off x="793790" y="6632019"/>
            <a:ext cx="13042821" cy="833557"/>
          </a:xfrm>
          <a:prstGeom prst="roundRect">
            <a:avLst>
              <a:gd name="adj" fmla="val 2500"/>
            </a:avLst>
          </a:prstGeom>
          <a:solidFill>
            <a:srgbClr val="1D1D1B"/>
          </a:solidFill>
          <a:ln w="15240">
            <a:solidFill>
              <a:srgbClr val="555553"/>
            </a:solidFill>
            <a:prstDash val="solid"/>
          </a:ln>
        </p:spPr>
      </p:sp>
      <p:sp>
        <p:nvSpPr>
          <p:cNvPr id="20" name="Shape 14"/>
          <p:cNvSpPr/>
          <p:nvPr/>
        </p:nvSpPr>
        <p:spPr>
          <a:xfrm>
            <a:off x="809030" y="6647259"/>
            <a:ext cx="555665" cy="803077"/>
          </a:xfrm>
          <a:prstGeom prst="roundRect">
            <a:avLst>
              <a:gd name="adj" fmla="val 459"/>
            </a:avLst>
          </a:prstGeom>
          <a:solidFill>
            <a:srgbClr val="3C3C3A"/>
          </a:solidFill>
          <a:ln/>
        </p:spPr>
      </p:sp>
      <p:pic>
        <p:nvPicPr>
          <p:cNvPr id="2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82623" y="6944558"/>
            <a:ext cx="208359" cy="208359"/>
          </a:xfrm>
          <a:prstGeom prst="rect">
            <a:avLst/>
          </a:prstGeom>
        </p:spPr>
      </p:pic>
      <p:sp>
        <p:nvSpPr>
          <p:cNvPr id="22" name="Text 15"/>
          <p:cNvSpPr/>
          <p:nvPr/>
        </p:nvSpPr>
        <p:spPr>
          <a:xfrm>
            <a:off x="1503521" y="6786086"/>
            <a:ext cx="1736646" cy="217051"/>
          </a:xfrm>
          <a:prstGeom prst="rect">
            <a:avLst/>
          </a:prstGeom>
          <a:noFill/>
          <a:ln/>
        </p:spPr>
        <p:txBody>
          <a:bodyPr wrap="none" lIns="0" tIns="0" rIns="0" bIns="0" rtlCol="0" anchor="t"/>
          <a:lstStyle/>
          <a:p>
            <a:pPr marL="0" indent="0" algn="l">
              <a:lnSpc>
                <a:spcPts val="1700"/>
              </a:lnSpc>
              <a:buNone/>
            </a:pPr>
            <a:r>
              <a:rPr lang="en-US" sz="1350" dirty="0">
                <a:solidFill>
                  <a:srgbClr val="C9C9C0"/>
                </a:solidFill>
                <a:latin typeface="Tomorrow Semi Bold" pitchFamily="34" charset="0"/>
                <a:ea typeface="Tomorrow Semi Bold" pitchFamily="34" charset="-122"/>
                <a:cs typeface="Tomorrow Semi Bold" pitchFamily="34" charset="-120"/>
              </a:rPr>
              <a:t>Beğeni Sayısı</a:t>
            </a:r>
            <a:endParaRPr lang="en-US" sz="1350" dirty="0"/>
          </a:p>
        </p:txBody>
      </p:sp>
      <p:sp>
        <p:nvSpPr>
          <p:cNvPr id="23" name="Text 16"/>
          <p:cNvSpPr/>
          <p:nvPr/>
        </p:nvSpPr>
        <p:spPr>
          <a:xfrm>
            <a:off x="1503521" y="7086481"/>
            <a:ext cx="12179022" cy="222290"/>
          </a:xfrm>
          <a:prstGeom prst="rect">
            <a:avLst/>
          </a:prstGeom>
          <a:noFill/>
          <a:ln/>
        </p:spPr>
        <p:txBody>
          <a:bodyPr wrap="none" lIns="0" tIns="0" rIns="0" bIns="0" rtlCol="0" anchor="t"/>
          <a:lstStyle/>
          <a:p>
            <a:pPr marL="0" indent="0" algn="l">
              <a:lnSpc>
                <a:spcPts val="1750"/>
              </a:lnSpc>
              <a:buNone/>
            </a:pPr>
            <a:r>
              <a:rPr lang="en-US" sz="1050" dirty="0">
                <a:solidFill>
                  <a:srgbClr val="C9C9C0"/>
                </a:solidFill>
                <a:latin typeface="Tomorrow" pitchFamily="34" charset="0"/>
                <a:ea typeface="Tomorrow" pitchFamily="34" charset="-122"/>
                <a:cs typeface="Tomorrow" pitchFamily="34" charset="-120"/>
              </a:rPr>
              <a:t>Kullanıcıların belirli bir içeriğe verdiği temel pozitif geri bildirim göstergesi. Sosyal medya etkileşiminin en yaygın ve ölçülebilir ölçüsüdür ve içeriğin popülarite derecesini belirtir.</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61899"/>
            <a:ext cx="4962882" cy="496133"/>
          </a:xfrm>
          <a:prstGeom prst="rect">
            <a:avLst/>
          </a:prstGeom>
          <a:noFill/>
          <a:ln/>
        </p:spPr>
        <p:txBody>
          <a:bodyPr wrap="none" lIns="0" tIns="0" rIns="0" bIns="0" rtlCol="0" anchor="t"/>
          <a:lstStyle/>
          <a:p>
            <a:pPr marL="0" indent="0" algn="l">
              <a:lnSpc>
                <a:spcPts val="3900"/>
              </a:lnSpc>
              <a:buNone/>
            </a:pPr>
            <a:r>
              <a:rPr lang="en-US" sz="3100" dirty="0">
                <a:solidFill>
                  <a:srgbClr val="EDEDE8"/>
                </a:solidFill>
                <a:latin typeface="Tomorrow Semi Bold" pitchFamily="34" charset="0"/>
                <a:ea typeface="Tomorrow Semi Bold" pitchFamily="34" charset="-122"/>
                <a:cs typeface="Tomorrow Semi Bold" pitchFamily="34" charset="-120"/>
              </a:rPr>
              <a:t>Kaynakça (IEEE Formatı)</a:t>
            </a:r>
            <a:endParaRPr lang="en-US" sz="3100" dirty="0"/>
          </a:p>
        </p:txBody>
      </p:sp>
      <p:sp>
        <p:nvSpPr>
          <p:cNvPr id="3" name="Text 1"/>
          <p:cNvSpPr/>
          <p:nvPr/>
        </p:nvSpPr>
        <p:spPr>
          <a:xfrm>
            <a:off x="793790" y="2754868"/>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C9C9C0"/>
                </a:solidFill>
                <a:latin typeface="Tomorrow" pitchFamily="34" charset="0"/>
                <a:ea typeface="Tomorrow" pitchFamily="34" charset="-122"/>
                <a:cs typeface="Tomorrow" pitchFamily="34" charset="-120"/>
              </a:rPr>
              <a:t>Bu araştırmanın teorik altyapısı aşağıdaki akademik kaynaklar tarafından desteklenmektedir:</a:t>
            </a:r>
            <a:endParaRPr lang="en-US" sz="1250" dirty="0"/>
          </a:p>
        </p:txBody>
      </p:sp>
      <p:sp>
        <p:nvSpPr>
          <p:cNvPr id="4" name="Text 2"/>
          <p:cNvSpPr/>
          <p:nvPr/>
        </p:nvSpPr>
        <p:spPr>
          <a:xfrm>
            <a:off x="793790" y="3232190"/>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[1] Y. Zhang, L. Chen, and R. Hu, "Social Media Engagement Analysis Using Machine Learning," </a:t>
            </a:r>
            <a:r>
              <a:rPr lang="en-US" sz="1550" i="1" dirty="0">
                <a:solidFill>
                  <a:srgbClr val="C9C9C0"/>
                </a:solidFill>
                <a:latin typeface="Tomorrow" pitchFamily="34" charset="0"/>
                <a:ea typeface="Tomorrow" pitchFamily="34" charset="-122"/>
                <a:cs typeface="Tomorrow" pitchFamily="34" charset="-120"/>
              </a:rPr>
              <a:t>Journal of Digital Communication Research</a:t>
            </a:r>
            <a:r>
              <a:rPr lang="en-US" sz="1550" dirty="0">
                <a:solidFill>
                  <a:srgbClr val="C9C9C0"/>
                </a:solidFill>
                <a:latin typeface="Tomorrow" pitchFamily="34" charset="0"/>
                <a:ea typeface="Tomorrow" pitchFamily="34" charset="-122"/>
                <a:cs typeface="Tomorrow" pitchFamily="34" charset="-120"/>
              </a:rPr>
              <a:t>, vol. 15, no. 3, pp. 44–57, 2021.</a:t>
            </a:r>
            <a:endParaRPr lang="en-US" sz="1550" dirty="0"/>
          </a:p>
        </p:txBody>
      </p:sp>
      <p:sp>
        <p:nvSpPr>
          <p:cNvPr id="5" name="Text 3"/>
          <p:cNvSpPr/>
          <p:nvPr/>
        </p:nvSpPr>
        <p:spPr>
          <a:xfrm>
            <a:off x="793790" y="3936683"/>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[2] A. Kara and D. Demir, "Visual Aesthetics and User Interaction in Short-Form Video Platforms," </a:t>
            </a:r>
            <a:r>
              <a:rPr lang="en-US" sz="1550" i="1" dirty="0">
                <a:solidFill>
                  <a:srgbClr val="C9C9C0"/>
                </a:solidFill>
                <a:latin typeface="Tomorrow" pitchFamily="34" charset="0"/>
                <a:ea typeface="Tomorrow" pitchFamily="34" charset="-122"/>
                <a:cs typeface="Tomorrow" pitchFamily="34" charset="-120"/>
              </a:rPr>
              <a:t>Turkish Journal of Media Studies</a:t>
            </a:r>
            <a:r>
              <a:rPr lang="en-US" sz="1550" dirty="0">
                <a:solidFill>
                  <a:srgbClr val="C9C9C0"/>
                </a:solidFill>
                <a:latin typeface="Tomorrow" pitchFamily="34" charset="0"/>
                <a:ea typeface="Tomorrow" pitchFamily="34" charset="-122"/>
                <a:cs typeface="Tomorrow" pitchFamily="34" charset="-120"/>
              </a:rPr>
              <a:t>, vol. 8, no. 2, pp. 101–112, 2022.</a:t>
            </a:r>
            <a:endParaRPr lang="en-US" sz="1550" dirty="0"/>
          </a:p>
        </p:txBody>
      </p:sp>
      <p:sp>
        <p:nvSpPr>
          <p:cNvPr id="6" name="Text 4"/>
          <p:cNvSpPr/>
          <p:nvPr/>
        </p:nvSpPr>
        <p:spPr>
          <a:xfrm>
            <a:off x="793790" y="4641175"/>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[3] S. Yu, "Digital Subcultures and Online Identity: A Study on Gothic Aesthetics," </a:t>
            </a:r>
            <a:r>
              <a:rPr lang="en-US" sz="1550" i="1" dirty="0">
                <a:solidFill>
                  <a:srgbClr val="C9C9C0"/>
                </a:solidFill>
                <a:latin typeface="Tomorrow" pitchFamily="34" charset="0"/>
                <a:ea typeface="Tomorrow" pitchFamily="34" charset="-122"/>
                <a:cs typeface="Tomorrow" pitchFamily="34" charset="-120"/>
              </a:rPr>
              <a:t>International Journal of Cultural Media Studies</a:t>
            </a:r>
            <a:r>
              <a:rPr lang="en-US" sz="1550" dirty="0">
                <a:solidFill>
                  <a:srgbClr val="C9C9C0"/>
                </a:solidFill>
                <a:latin typeface="Tomorrow" pitchFamily="34" charset="0"/>
                <a:ea typeface="Tomorrow" pitchFamily="34" charset="-122"/>
                <a:cs typeface="Tomorrow" pitchFamily="34" charset="-120"/>
              </a:rPr>
              <a:t>, vol. 10, no. 1, pp. 22–35, 2023.</a:t>
            </a:r>
            <a:endParaRPr lang="en-US" sz="1550" dirty="0"/>
          </a:p>
        </p:txBody>
      </p:sp>
      <p:sp>
        <p:nvSpPr>
          <p:cNvPr id="7" name="Text 5"/>
          <p:cNvSpPr/>
          <p:nvPr/>
        </p:nvSpPr>
        <p:spPr>
          <a:xfrm>
            <a:off x="793790" y="5345668"/>
            <a:ext cx="13042821"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[4] T. Nguyen and K. Patel, "Comparative Analysis of User Engagement: TikTok vs Instagram," </a:t>
            </a:r>
            <a:r>
              <a:rPr lang="en-US" sz="1550" i="1" dirty="0">
                <a:solidFill>
                  <a:srgbClr val="C9C9C0"/>
                </a:solidFill>
                <a:latin typeface="Tomorrow" pitchFamily="34" charset="0"/>
                <a:ea typeface="Tomorrow" pitchFamily="34" charset="-122"/>
                <a:cs typeface="Tomorrow" pitchFamily="34" charset="-120"/>
              </a:rPr>
              <a:t>New Media &amp; Society Review</a:t>
            </a:r>
            <a:r>
              <a:rPr lang="en-US" sz="1550" dirty="0">
                <a:solidFill>
                  <a:srgbClr val="C9C9C0"/>
                </a:solidFill>
                <a:latin typeface="Tomorrow" pitchFamily="34" charset="0"/>
                <a:ea typeface="Tomorrow" pitchFamily="34" charset="-122"/>
                <a:cs typeface="Tomorrow" pitchFamily="34" charset="-120"/>
              </a:rPr>
              <a:t>, vol. 12, no. 4, pp. 77–90, 2022.</a:t>
            </a:r>
            <a:endParaRPr lang="en-US" sz="1550" dirty="0"/>
          </a:p>
        </p:txBody>
      </p:sp>
      <p:sp>
        <p:nvSpPr>
          <p:cNvPr id="8" name="Text 6"/>
          <p:cNvSpPr/>
          <p:nvPr/>
        </p:nvSpPr>
        <p:spPr>
          <a:xfrm>
            <a:off x="793790" y="6050161"/>
            <a:ext cx="13042821"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[5] L. Black and R. White, "Alternative Aesthetics in Social Media Algorithms," </a:t>
            </a:r>
            <a:r>
              <a:rPr lang="en-US" sz="1550" i="1" dirty="0">
                <a:solidFill>
                  <a:srgbClr val="C9C9C0"/>
                </a:solidFill>
                <a:latin typeface="Tomorrow" pitchFamily="34" charset="0"/>
                <a:ea typeface="Tomorrow" pitchFamily="34" charset="-122"/>
                <a:cs typeface="Tomorrow" pitchFamily="34" charset="-120"/>
              </a:rPr>
              <a:t>Cultural Data Science</a:t>
            </a:r>
            <a:r>
              <a:rPr lang="en-US" sz="1550" dirty="0">
                <a:solidFill>
                  <a:srgbClr val="C9C9C0"/>
                </a:solidFill>
                <a:latin typeface="Tomorrow" pitchFamily="34" charset="0"/>
                <a:ea typeface="Tomorrow" pitchFamily="34" charset="-122"/>
                <a:cs typeface="Tomorrow" pitchFamily="34" charset="-120"/>
              </a:rPr>
              <a:t>, vol. 6, no. 2, pp. 11–23, 2021.</a:t>
            </a:r>
            <a:endParaRPr lang="en-US" sz="15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850</Words>
  <Application>Microsoft Office PowerPoint</Application>
  <PresentationFormat>Özel</PresentationFormat>
  <Paragraphs>76</Paragraphs>
  <Slides>9</Slides>
  <Notes>9</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9</vt:i4>
      </vt:variant>
    </vt:vector>
  </HeadingPairs>
  <TitlesOfParts>
    <vt:vector size="13" baseType="lpstr">
      <vt:lpstr>Tomorrow Semi Bold</vt:lpstr>
      <vt:lpstr>Arial</vt:lpstr>
      <vt:lpstr>Tomorrow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Nezaket Demirci</cp:lastModifiedBy>
  <cp:revision>2</cp:revision>
  <dcterms:created xsi:type="dcterms:W3CDTF">2025-11-17T17:55:54Z</dcterms:created>
  <dcterms:modified xsi:type="dcterms:W3CDTF">2025-11-17T18:25:50Z</dcterms:modified>
</cp:coreProperties>
</file>